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2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4AA"/>
    <a:srgbClr val="FF6B9D"/>
    <a:srgbClr val="1282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4340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9c2e4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56236" y="1351657"/>
            <a:ext cx="2231380" cy="331440"/>
          </a:xfrm>
          <a:prstGeom prst="roundRect">
            <a:avLst>
              <a:gd name="adj" fmla="val 2870949"/>
            </a:avLst>
          </a:prstGeom>
          <a:solidFill>
            <a:srgbClr val="152238"/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3637947" y="1437382"/>
            <a:ext cx="186795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ASSESSMENT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741753" y="1911697"/>
            <a:ext cx="566049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Sprout AI Support Agent</a:t>
            </a:r>
            <a:endParaRPr lang="en-US" sz="3900" dirty="0"/>
          </a:p>
        </p:txBody>
      </p:sp>
      <p:sp>
        <p:nvSpPr>
          <p:cNvPr id="6" name="Text 3"/>
          <p:cNvSpPr/>
          <p:nvPr/>
        </p:nvSpPr>
        <p:spPr>
          <a:xfrm>
            <a:off x="1790029" y="2635597"/>
            <a:ext cx="5563794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Sentiment-Driven Customer Support with ML &amp; LangGraph</a:t>
            </a:r>
            <a:endParaRPr lang="en-US" sz="1650" dirty="0"/>
          </a:p>
        </p:txBody>
      </p:sp>
      <p:pic>
        <p:nvPicPr>
          <p:cNvPr id="7" name="Image 1" descr="/tmp/rasterized-gradient-a7c9e8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3157538"/>
            <a:ext cx="1143000" cy="285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168896" y="3605213"/>
            <a:ext cx="120958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Dherick Jay Paalam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671417" y="367947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004828" y="3605213"/>
            <a:ext cx="96790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2025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8068689" y="4615904"/>
            <a:ext cx="7011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2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Sprout AI Labs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007a7a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1775520"/>
            <a:ext cx="37073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AI-powered customer support system that automatically analyzes customer sentiment and takes intelligent action.</a:t>
            </a:r>
            <a:endParaRPr lang="en-US" sz="1125" dirty="0"/>
          </a:p>
        </p:txBody>
      </p:sp>
      <p:sp>
        <p:nvSpPr>
          <p:cNvPr id="5" name="Text 2"/>
          <p:cNvSpPr/>
          <p:nvPr/>
        </p:nvSpPr>
        <p:spPr>
          <a:xfrm>
            <a:off x="381000" y="2689920"/>
            <a:ext cx="3634680" cy="925711"/>
          </a:xfrm>
          <a:prstGeom prst="roundRect">
            <a:avLst>
              <a:gd name="adj" fmla="val 8232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395288" y="2689920"/>
            <a:ext cx="0" cy="925711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4"/>
          <p:cNvSpPr/>
          <p:nvPr/>
        </p:nvSpPr>
        <p:spPr>
          <a:xfrm>
            <a:off x="561975" y="2842320"/>
            <a:ext cx="336733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Objective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561975" y="3091755"/>
            <a:ext cx="336733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AI agent that uses ML sentiment analysis to route and respond to customer inquiries automatically.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4320480" y="1604070"/>
            <a:ext cx="4442520" cy="651421"/>
          </a:xfrm>
          <a:prstGeom prst="roundRect">
            <a:avLst>
              <a:gd name="adj" fmla="val 11698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472880" y="173920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006280" y="1737420"/>
            <a:ext cx="22139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Foundation</a:t>
            </a:r>
            <a:endParaRPr lang="en-US" sz="1050" dirty="0">
              <a:solidFill>
                <a:srgbClr val="00D4AA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5006280" y="1962150"/>
            <a:ext cx="22139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Classification Model (RoBERTa)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20480" y="2369790"/>
            <a:ext cx="4442520" cy="651421"/>
          </a:xfrm>
          <a:prstGeom prst="roundRect">
            <a:avLst>
              <a:gd name="adj" fmla="val 11698"/>
            </a:avLst>
          </a:prstGeom>
          <a:solidFill>
            <a:srgbClr val="152238"/>
          </a:solidFill>
          <a:ln>
            <a:solidFill>
              <a:srgbClr val="FF6B9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472880" y="2504926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6B9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006280" y="2503140"/>
            <a:ext cx="190848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Services</a:t>
            </a:r>
            <a:endParaRPr lang="en-US" sz="1050" dirty="0">
              <a:solidFill>
                <a:srgbClr val="FF6B9D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06280" y="2727871"/>
            <a:ext cx="19084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 + Agent API (FastAPI)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320480" y="3135511"/>
            <a:ext cx="4442520" cy="651421"/>
          </a:xfrm>
          <a:prstGeom prst="roundRect">
            <a:avLst>
              <a:gd name="adj" fmla="val 11698"/>
            </a:avLst>
          </a:prstGeom>
          <a:solidFill>
            <a:srgbClr val="152238"/>
          </a:solidFill>
          <a:ln>
            <a:solidFill>
              <a:srgbClr val="00B0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72880" y="3270647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00B0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006280" y="3268861"/>
            <a:ext cx="19972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Workflow</a:t>
            </a:r>
            <a:endParaRPr lang="en-US" sz="1050" dirty="0">
              <a:solidFill>
                <a:srgbClr val="00B0F0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06280" y="3493591"/>
            <a:ext cx="19972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ReACT Agent + Chainlit UI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 with Docker Compose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9ab393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1327993"/>
            <a:ext cx="2171700" cy="1367433"/>
          </a:xfrm>
          <a:prstGeom prst="roundRect">
            <a:avLst>
              <a:gd name="adj" fmla="val 835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81025" y="1604218"/>
            <a:ext cx="180708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FE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1025" y="1855589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8080</a:t>
            </a:r>
            <a:endParaRPr lang="en-US" sz="825" dirty="0"/>
          </a:p>
        </p:txBody>
      </p:sp>
      <p:sp>
        <p:nvSpPr>
          <p:cNvPr id="8" name="Shape 5"/>
          <p:cNvSpPr/>
          <p:nvPr/>
        </p:nvSpPr>
        <p:spPr>
          <a:xfrm>
            <a:off x="581025" y="2083147"/>
            <a:ext cx="177165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581025" y="2164110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UI Layer</a:t>
            </a:r>
            <a:endParaRPr lang="en-US" sz="825" dirty="0"/>
          </a:p>
        </p:txBody>
      </p:sp>
      <p:sp>
        <p:nvSpPr>
          <p:cNvPr id="10" name="Text 7"/>
          <p:cNvSpPr/>
          <p:nvPr/>
        </p:nvSpPr>
        <p:spPr>
          <a:xfrm>
            <a:off x="581025" y="2348805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Client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2781300" y="2002185"/>
            <a:ext cx="381000" cy="190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162300" y="1983135"/>
            <a:ext cx="9525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0"/>
          <p:cNvSpPr/>
          <p:nvPr/>
        </p:nvSpPr>
        <p:spPr>
          <a:xfrm>
            <a:off x="3162300" y="2040285"/>
            <a:ext cx="9525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1"/>
          <p:cNvSpPr/>
          <p:nvPr/>
        </p:nvSpPr>
        <p:spPr>
          <a:xfrm>
            <a:off x="3209925" y="1954560"/>
            <a:ext cx="0" cy="114300"/>
          </a:xfrm>
          <a:prstGeom prst="line">
            <a:avLst/>
          </a:prstGeom>
          <a:noFill/>
          <a:ln w="9525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 dirty="0"/>
          </a:p>
        </p:txBody>
      </p:sp>
      <p:sp>
        <p:nvSpPr>
          <p:cNvPr id="15" name="Text 12"/>
          <p:cNvSpPr/>
          <p:nvPr/>
        </p:nvSpPr>
        <p:spPr>
          <a:xfrm>
            <a:off x="3486150" y="1327993"/>
            <a:ext cx="2171700" cy="1367433"/>
          </a:xfrm>
          <a:prstGeom prst="roundRect">
            <a:avLst>
              <a:gd name="adj" fmla="val 835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686175" y="1604218"/>
            <a:ext cx="180708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API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686175" y="1855589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8001</a:t>
            </a:r>
            <a:endParaRPr lang="en-US" sz="825" dirty="0"/>
          </a:p>
        </p:txBody>
      </p:sp>
      <p:sp>
        <p:nvSpPr>
          <p:cNvPr id="19" name="Shape 16"/>
          <p:cNvSpPr/>
          <p:nvPr/>
        </p:nvSpPr>
        <p:spPr>
          <a:xfrm>
            <a:off x="3686175" y="2083147"/>
            <a:ext cx="177165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7"/>
          <p:cNvSpPr/>
          <p:nvPr/>
        </p:nvSpPr>
        <p:spPr>
          <a:xfrm>
            <a:off x="3686175" y="2164110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Agent</a:t>
            </a:r>
            <a:endParaRPr lang="en-US" sz="825" dirty="0"/>
          </a:p>
        </p:txBody>
      </p:sp>
      <p:sp>
        <p:nvSpPr>
          <p:cNvPr id="21" name="Text 18"/>
          <p:cNvSpPr/>
          <p:nvPr/>
        </p:nvSpPr>
        <p:spPr>
          <a:xfrm>
            <a:off x="3686175" y="2348805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+ GPT-5-mini</a:t>
            </a:r>
            <a:endParaRPr lang="en-US" sz="825" dirty="0"/>
          </a:p>
        </p:txBody>
      </p:sp>
      <p:sp>
        <p:nvSpPr>
          <p:cNvPr id="22" name="Text 19"/>
          <p:cNvSpPr/>
          <p:nvPr/>
        </p:nvSpPr>
        <p:spPr>
          <a:xfrm>
            <a:off x="5886450" y="2002185"/>
            <a:ext cx="381000" cy="190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6267450" y="1983135"/>
            <a:ext cx="9525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1"/>
          <p:cNvSpPr/>
          <p:nvPr/>
        </p:nvSpPr>
        <p:spPr>
          <a:xfrm>
            <a:off x="6267450" y="2040285"/>
            <a:ext cx="9525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2"/>
          <p:cNvSpPr/>
          <p:nvPr/>
        </p:nvSpPr>
        <p:spPr>
          <a:xfrm>
            <a:off x="6315075" y="1954560"/>
            <a:ext cx="0" cy="114300"/>
          </a:xfrm>
          <a:prstGeom prst="line">
            <a:avLst/>
          </a:prstGeom>
          <a:noFill/>
          <a:ln w="9525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3"/>
          <p:cNvSpPr/>
          <p:nvPr/>
        </p:nvSpPr>
        <p:spPr>
          <a:xfrm>
            <a:off x="6591300" y="1327993"/>
            <a:ext cx="2171700" cy="1367433"/>
          </a:xfrm>
          <a:prstGeom prst="roundRect">
            <a:avLst>
              <a:gd name="adj" fmla="val 835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791325" y="1604218"/>
            <a:ext cx="180708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91325" y="1855589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8000</a:t>
            </a:r>
            <a:endParaRPr lang="en-US" sz="825" dirty="0"/>
          </a:p>
        </p:txBody>
      </p:sp>
      <p:sp>
        <p:nvSpPr>
          <p:cNvPr id="30" name="Shape 27"/>
          <p:cNvSpPr/>
          <p:nvPr/>
        </p:nvSpPr>
        <p:spPr>
          <a:xfrm>
            <a:off x="6791325" y="2083147"/>
            <a:ext cx="177165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8"/>
          <p:cNvSpPr/>
          <p:nvPr/>
        </p:nvSpPr>
        <p:spPr>
          <a:xfrm>
            <a:off x="6791325" y="2164110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Inference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6791325" y="2348805"/>
            <a:ext cx="18070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 RoBERTa</a:t>
            </a:r>
            <a:endParaRPr lang="en-US" sz="825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B3922D2-7CE0-FF29-EC56-E318948B77D2}"/>
              </a:ext>
            </a:extLst>
          </p:cNvPr>
          <p:cNvGrpSpPr/>
          <p:nvPr/>
        </p:nvGrpSpPr>
        <p:grpSpPr>
          <a:xfrm>
            <a:off x="2033959" y="3259039"/>
            <a:ext cx="5076081" cy="298996"/>
            <a:chOff x="2033885" y="2962126"/>
            <a:chExt cx="5076081" cy="298996"/>
          </a:xfrm>
        </p:grpSpPr>
        <p:sp>
          <p:nvSpPr>
            <p:cNvPr id="33" name="Text 30"/>
            <p:cNvSpPr/>
            <p:nvPr/>
          </p:nvSpPr>
          <p:spPr>
            <a:xfrm>
              <a:off x="2033885" y="2962126"/>
              <a:ext cx="917525" cy="298996"/>
            </a:xfrm>
            <a:prstGeom prst="roundRect">
              <a:avLst>
                <a:gd name="adj" fmla="val 19114"/>
              </a:avLst>
            </a:prstGeom>
            <a:solidFill>
              <a:srgbClr val="1E3A5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4" name="Text 31"/>
            <p:cNvSpPr/>
            <p:nvPr/>
          </p:nvSpPr>
          <p:spPr>
            <a:xfrm>
              <a:off x="2186285" y="3038326"/>
              <a:ext cx="624980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buNone/>
              </a:pPr>
              <a:r>
                <a:rPr lang="en-US" sz="825" dirty="0">
                  <a:solidFill>
                    <a:srgbClr val="E8EEF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Python 3.11+</a:t>
              </a:r>
              <a:endParaRPr lang="en-US" sz="825" dirty="0"/>
            </a:p>
          </p:txBody>
        </p:sp>
        <p:sp>
          <p:nvSpPr>
            <p:cNvPr id="35" name="Text 32"/>
            <p:cNvSpPr/>
            <p:nvPr/>
          </p:nvSpPr>
          <p:spPr>
            <a:xfrm>
              <a:off x="3103811" y="2962126"/>
              <a:ext cx="677466" cy="298996"/>
            </a:xfrm>
            <a:prstGeom prst="roundRect">
              <a:avLst>
                <a:gd name="adj" fmla="val 19114"/>
              </a:avLst>
            </a:prstGeom>
            <a:solidFill>
              <a:srgbClr val="1E3A5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6" name="Text 33"/>
            <p:cNvSpPr/>
            <p:nvPr/>
          </p:nvSpPr>
          <p:spPr>
            <a:xfrm>
              <a:off x="3256211" y="3038326"/>
              <a:ext cx="380119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buNone/>
              </a:pPr>
              <a:r>
                <a:rPr lang="en-US" sz="825" dirty="0">
                  <a:solidFill>
                    <a:srgbClr val="E8EEF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FastAPI</a:t>
              </a:r>
              <a:endParaRPr lang="en-US" sz="825" dirty="0"/>
            </a:p>
          </p:txBody>
        </p:sp>
        <p:sp>
          <p:nvSpPr>
            <p:cNvPr id="37" name="Text 34"/>
            <p:cNvSpPr/>
            <p:nvPr/>
          </p:nvSpPr>
          <p:spPr>
            <a:xfrm>
              <a:off x="3933676" y="2962126"/>
              <a:ext cx="829121" cy="298996"/>
            </a:xfrm>
            <a:prstGeom prst="roundRect">
              <a:avLst>
                <a:gd name="adj" fmla="val 19114"/>
              </a:avLst>
            </a:prstGeom>
            <a:solidFill>
              <a:srgbClr val="1E3A5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8" name="Text 35"/>
            <p:cNvSpPr/>
            <p:nvPr/>
          </p:nvSpPr>
          <p:spPr>
            <a:xfrm>
              <a:off x="4086076" y="3038326"/>
              <a:ext cx="534808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buNone/>
              </a:pPr>
              <a:r>
                <a:rPr lang="en-US" sz="825" dirty="0">
                  <a:solidFill>
                    <a:srgbClr val="E8EEF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LangGraph</a:t>
              </a:r>
              <a:endParaRPr lang="en-US" sz="825" dirty="0"/>
            </a:p>
          </p:txBody>
        </p:sp>
        <p:sp>
          <p:nvSpPr>
            <p:cNvPr id="39" name="Text 36"/>
            <p:cNvSpPr/>
            <p:nvPr/>
          </p:nvSpPr>
          <p:spPr>
            <a:xfrm>
              <a:off x="4915198" y="2962126"/>
              <a:ext cx="928092" cy="298996"/>
            </a:xfrm>
            <a:prstGeom prst="roundRect">
              <a:avLst>
                <a:gd name="adj" fmla="val 19114"/>
              </a:avLst>
            </a:prstGeom>
            <a:solidFill>
              <a:srgbClr val="1E3A5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0" name="Text 37"/>
            <p:cNvSpPr/>
            <p:nvPr/>
          </p:nvSpPr>
          <p:spPr>
            <a:xfrm>
              <a:off x="5067598" y="3038326"/>
              <a:ext cx="635758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buNone/>
              </a:pPr>
              <a:r>
                <a:rPr lang="en-US" sz="825" dirty="0">
                  <a:solidFill>
                    <a:srgbClr val="E8EEF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HuggingFace</a:t>
              </a:r>
              <a:endParaRPr lang="en-US" sz="825" dirty="0"/>
            </a:p>
          </p:txBody>
        </p:sp>
        <p:sp>
          <p:nvSpPr>
            <p:cNvPr id="41" name="Text 38"/>
            <p:cNvSpPr/>
            <p:nvPr/>
          </p:nvSpPr>
          <p:spPr>
            <a:xfrm>
              <a:off x="5995690" y="2962126"/>
              <a:ext cx="1114276" cy="298996"/>
            </a:xfrm>
            <a:prstGeom prst="roundRect">
              <a:avLst>
                <a:gd name="adj" fmla="val 19114"/>
              </a:avLst>
            </a:prstGeom>
            <a:solidFill>
              <a:srgbClr val="1E3A5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2" name="Text 39"/>
            <p:cNvSpPr/>
            <p:nvPr/>
          </p:nvSpPr>
          <p:spPr>
            <a:xfrm>
              <a:off x="6148090" y="3038326"/>
              <a:ext cx="825666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buNone/>
              </a:pPr>
              <a:r>
                <a:rPr lang="en-US" sz="825" dirty="0">
                  <a:solidFill>
                    <a:srgbClr val="E8EEF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Docker Compose</a:t>
              </a:r>
              <a:endParaRPr lang="en-US" sz="825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9B28DCA-9E08-934F-9B49-0B94ECA27BE9}"/>
              </a:ext>
            </a:extLst>
          </p:cNvPr>
          <p:cNvGrpSpPr/>
          <p:nvPr/>
        </p:nvGrpSpPr>
        <p:grpSpPr>
          <a:xfrm>
            <a:off x="395288" y="3948708"/>
            <a:ext cx="8382000" cy="573286"/>
            <a:chOff x="381000" y="3489722"/>
            <a:chExt cx="8382000" cy="573286"/>
          </a:xfrm>
        </p:grpSpPr>
        <p:sp>
          <p:nvSpPr>
            <p:cNvPr id="43" name="Text 40"/>
            <p:cNvSpPr/>
            <p:nvPr/>
          </p:nvSpPr>
          <p:spPr>
            <a:xfrm>
              <a:off x="381000" y="3489722"/>
              <a:ext cx="2667000" cy="573286"/>
            </a:xfrm>
            <a:prstGeom prst="roundRect">
              <a:avLst>
                <a:gd name="adj" fmla="val 13292"/>
              </a:avLst>
            </a:prstGeom>
            <a:solidFill>
              <a:srgbClr val="152238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4" name="Shape 41"/>
            <p:cNvSpPr/>
            <p:nvPr/>
          </p:nvSpPr>
          <p:spPr>
            <a:xfrm>
              <a:off x="395288" y="3489722"/>
              <a:ext cx="0" cy="573286"/>
            </a:xfrm>
            <a:prstGeom prst="line">
              <a:avLst/>
            </a:prstGeom>
            <a:noFill/>
            <a:ln w="28575">
              <a:solidFill>
                <a:srgbClr val="00D4AA"/>
              </a:solidFill>
              <a:prstDash val="solid"/>
            </a:ln>
          </p:spPr>
          <p:txBody>
            <a:bodyPr/>
            <a:lstStyle/>
            <a:p>
              <a:endParaRPr lang="en-PH"/>
            </a:p>
          </p:txBody>
        </p:sp>
        <p:sp>
          <p:nvSpPr>
            <p:cNvPr id="45" name="Text 42"/>
            <p:cNvSpPr/>
            <p:nvPr/>
          </p:nvSpPr>
          <p:spPr>
            <a:xfrm>
              <a:off x="542925" y="3604022"/>
              <a:ext cx="2419160" cy="1599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60"/>
                </a:lnSpc>
                <a:buNone/>
              </a:pPr>
              <a:r>
                <a:rPr lang="en-US" sz="900" b="1" dirty="0">
                  <a:solidFill>
                    <a:srgbClr val="00D4A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Separation of Concerns</a:t>
              </a:r>
              <a:endParaRPr lang="en-US" sz="900" dirty="0"/>
            </a:p>
          </p:txBody>
        </p:sp>
        <p:sp>
          <p:nvSpPr>
            <p:cNvPr id="46" name="Text 43"/>
            <p:cNvSpPr/>
            <p:nvPr/>
          </p:nvSpPr>
          <p:spPr>
            <a:xfrm>
              <a:off x="542925" y="3802112"/>
              <a:ext cx="2419160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spcBef>
                  <a:spcPts val="300"/>
                </a:spcBef>
                <a:buNone/>
              </a:pPr>
              <a:r>
                <a:rPr lang="en-US" sz="825" dirty="0">
                  <a:solidFill>
                    <a:srgbClr val="8899A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service has one responsibility</a:t>
              </a:r>
              <a:endParaRPr lang="en-US" sz="825" dirty="0"/>
            </a:p>
          </p:txBody>
        </p:sp>
        <p:sp>
          <p:nvSpPr>
            <p:cNvPr id="47" name="Text 44"/>
            <p:cNvSpPr/>
            <p:nvPr/>
          </p:nvSpPr>
          <p:spPr>
            <a:xfrm>
              <a:off x="3238500" y="3489722"/>
              <a:ext cx="2667000" cy="573286"/>
            </a:xfrm>
            <a:prstGeom prst="roundRect">
              <a:avLst>
                <a:gd name="adj" fmla="val 13292"/>
              </a:avLst>
            </a:prstGeom>
            <a:solidFill>
              <a:srgbClr val="152238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8" name="Shape 45"/>
            <p:cNvSpPr/>
            <p:nvPr/>
          </p:nvSpPr>
          <p:spPr>
            <a:xfrm>
              <a:off x="3252788" y="3489722"/>
              <a:ext cx="0" cy="573286"/>
            </a:xfrm>
            <a:prstGeom prst="line">
              <a:avLst/>
            </a:prstGeom>
            <a:noFill/>
            <a:ln w="28575">
              <a:solidFill>
                <a:srgbClr val="FF6B9D"/>
              </a:solidFill>
              <a:prstDash val="solid"/>
            </a:ln>
          </p:spPr>
          <p:txBody>
            <a:bodyPr/>
            <a:lstStyle/>
            <a:p>
              <a:endParaRPr lang="en-PH"/>
            </a:p>
          </p:txBody>
        </p:sp>
        <p:sp>
          <p:nvSpPr>
            <p:cNvPr id="49" name="Text 46"/>
            <p:cNvSpPr/>
            <p:nvPr/>
          </p:nvSpPr>
          <p:spPr>
            <a:xfrm>
              <a:off x="3400425" y="3604022"/>
              <a:ext cx="2419160" cy="1599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60"/>
                </a:lnSpc>
                <a:buNone/>
              </a:pPr>
              <a:r>
                <a:rPr lang="en-US" sz="900" b="1" dirty="0">
                  <a:solidFill>
                    <a:srgbClr val="FF6B9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Independent Scaling</a:t>
              </a:r>
              <a:endParaRPr lang="en-US" sz="900" dirty="0"/>
            </a:p>
          </p:txBody>
        </p:sp>
        <p:sp>
          <p:nvSpPr>
            <p:cNvPr id="50" name="Text 47"/>
            <p:cNvSpPr/>
            <p:nvPr/>
          </p:nvSpPr>
          <p:spPr>
            <a:xfrm>
              <a:off x="3400425" y="3802112"/>
              <a:ext cx="2419160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spcBef>
                  <a:spcPts val="300"/>
                </a:spcBef>
                <a:buNone/>
              </a:pPr>
              <a:r>
                <a:rPr lang="en-US" sz="825" dirty="0">
                  <a:solidFill>
                    <a:srgbClr val="8899A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Deploy and scale services separately</a:t>
              </a:r>
              <a:endParaRPr lang="en-US" sz="825" dirty="0"/>
            </a:p>
          </p:txBody>
        </p:sp>
        <p:sp>
          <p:nvSpPr>
            <p:cNvPr id="51" name="Text 48"/>
            <p:cNvSpPr/>
            <p:nvPr/>
          </p:nvSpPr>
          <p:spPr>
            <a:xfrm>
              <a:off x="6096000" y="3489722"/>
              <a:ext cx="2667000" cy="573286"/>
            </a:xfrm>
            <a:prstGeom prst="roundRect">
              <a:avLst>
                <a:gd name="adj" fmla="val 13292"/>
              </a:avLst>
            </a:prstGeom>
            <a:solidFill>
              <a:srgbClr val="152238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52" name="Shape 49"/>
            <p:cNvSpPr/>
            <p:nvPr/>
          </p:nvSpPr>
          <p:spPr>
            <a:xfrm>
              <a:off x="6110288" y="3489722"/>
              <a:ext cx="0" cy="573286"/>
            </a:xfrm>
            <a:prstGeom prst="line">
              <a:avLst/>
            </a:prstGeom>
            <a:noFill/>
            <a:ln w="28575">
              <a:solidFill>
                <a:srgbClr val="00B0F0"/>
              </a:solidFill>
              <a:prstDash val="solid"/>
            </a:ln>
          </p:spPr>
          <p:txBody>
            <a:bodyPr/>
            <a:lstStyle/>
            <a:p>
              <a:endParaRPr lang="en-PH"/>
            </a:p>
          </p:txBody>
        </p:sp>
        <p:sp>
          <p:nvSpPr>
            <p:cNvPr id="53" name="Text 50"/>
            <p:cNvSpPr/>
            <p:nvPr/>
          </p:nvSpPr>
          <p:spPr>
            <a:xfrm>
              <a:off x="6257925" y="3604022"/>
              <a:ext cx="2419160" cy="1599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60"/>
                </a:lnSpc>
                <a:buNone/>
              </a:pPr>
              <a:r>
                <a:rPr lang="en-US" sz="900" b="1" dirty="0">
                  <a:solidFill>
                    <a:srgbClr val="00B0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Tool-Based Agent</a:t>
              </a:r>
              <a:endParaRPr lang="en-US" sz="900" dirty="0">
                <a:solidFill>
                  <a:srgbClr val="00B0F0"/>
                </a:solidFill>
              </a:endParaRPr>
            </a:p>
          </p:txBody>
        </p:sp>
        <p:sp>
          <p:nvSpPr>
            <p:cNvPr id="54" name="Text 51"/>
            <p:cNvSpPr/>
            <p:nvPr/>
          </p:nvSpPr>
          <p:spPr>
            <a:xfrm>
              <a:off x="6257925" y="3802112"/>
              <a:ext cx="2419160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155"/>
                </a:lnSpc>
                <a:spcBef>
                  <a:spcPts val="300"/>
                </a:spcBef>
                <a:buNone/>
              </a:pPr>
              <a:r>
                <a:rPr lang="en-US" sz="825" dirty="0">
                  <a:solidFill>
                    <a:srgbClr val="8899A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Flexible, extensible architecture</a:t>
              </a:r>
              <a:endParaRPr lang="en-US" sz="825" dirty="0"/>
            </a:p>
          </p:txBody>
        </p:sp>
      </p:grpSp>
      <p:sp>
        <p:nvSpPr>
          <p:cNvPr id="55" name="Text 52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services containerized with Docker for consistent deployment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3b2e9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1017" y="228600"/>
            <a:ext cx="1341983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563892" y="295275"/>
            <a:ext cx="10773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ML Foundation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517836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Sentiment Classification Model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81000" y="926157"/>
            <a:ext cx="4057650" cy="700832"/>
          </a:xfrm>
          <a:prstGeom prst="roundRect">
            <a:avLst>
              <a:gd name="adj" fmla="val 13591"/>
            </a:avLst>
          </a:prstGeom>
          <a:solidFill>
            <a:srgbClr val="152238"/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42925" y="1088082"/>
            <a:ext cx="38084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542925" y="1291828"/>
            <a:ext cx="38084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cardiffnlp/twitter-roberta-base-sentiment-latest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381000" y="1760339"/>
            <a:ext cx="4057650" cy="1441847"/>
          </a:xfrm>
          <a:prstGeom prst="roundRect">
            <a:avLst>
              <a:gd name="adj" fmla="val 660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33400" y="1912739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Model?</a:t>
            </a:r>
            <a:endParaRPr lang="en-US" sz="975" dirty="0"/>
          </a:p>
        </p:txBody>
      </p:sp>
      <p:sp>
        <p:nvSpPr>
          <p:cNvPr id="11" name="Text 8"/>
          <p:cNvSpPr/>
          <p:nvPr/>
        </p:nvSpPr>
        <p:spPr>
          <a:xfrm>
            <a:off x="533400" y="222885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85800" y="2181225"/>
            <a:ext cx="247122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124M tweets</a:t>
            </a: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robust to informal text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3400" y="246504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85800" y="2417415"/>
            <a:ext cx="184078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3-class output</a:t>
            </a: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(neg/neu/pos)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33400" y="270123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85800" y="2653605"/>
            <a:ext cx="23655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emojis, slang, social media language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33400" y="2937421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5800" y="2889796"/>
            <a:ext cx="21741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inference (~50-100ms per prediction)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81000" y="3335536"/>
            <a:ext cx="4057650" cy="1129457"/>
          </a:xfrm>
          <a:prstGeom prst="roundRect">
            <a:avLst>
              <a:gd name="adj" fmla="val 8433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14350" y="3468886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API Response Format</a:t>
            </a:r>
            <a:endParaRPr lang="en-US" sz="825" dirty="0"/>
          </a:p>
        </p:txBody>
      </p:sp>
      <p:sp>
        <p:nvSpPr>
          <p:cNvPr id="21" name="Text 18"/>
          <p:cNvSpPr/>
          <p:nvPr/>
        </p:nvSpPr>
        <p:spPr>
          <a:xfrm>
            <a:off x="514350" y="3691682"/>
            <a:ext cx="38667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14350" y="3851672"/>
            <a:ext cx="3866769" cy="15999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"model_output": </a:t>
            </a: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"positive"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14350" y="4011662"/>
            <a:ext cx="3866769" cy="15999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"confidence_score": </a:t>
            </a:r>
            <a:r>
              <a:rPr lang="en-US" sz="900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95.67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14350" y="4171652"/>
            <a:ext cx="38667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705350" y="980331"/>
            <a:ext cx="413880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Pipeline</a:t>
            </a:r>
            <a:endParaRPr lang="en-US" sz="975" dirty="0"/>
          </a:p>
        </p:txBody>
      </p:sp>
      <p:sp>
        <p:nvSpPr>
          <p:cNvPr id="26" name="Text 23"/>
          <p:cNvSpPr/>
          <p:nvPr/>
        </p:nvSpPr>
        <p:spPr>
          <a:xfrm>
            <a:off x="4705350" y="1286917"/>
            <a:ext cx="4057650" cy="540990"/>
          </a:xfrm>
          <a:prstGeom prst="roundRect">
            <a:avLst>
              <a:gd name="adj" fmla="val 1408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4838700" y="1423988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219700" y="1401217"/>
            <a:ext cx="19198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900" dirty="0">
              <a:solidFill>
                <a:srgbClr val="00D4AA"/>
              </a:solidFill>
            </a:endParaRPr>
          </a:p>
        </p:txBody>
      </p:sp>
      <p:sp>
        <p:nvSpPr>
          <p:cNvPr id="29" name="Text 26"/>
          <p:cNvSpPr/>
          <p:nvPr/>
        </p:nvSpPr>
        <p:spPr>
          <a:xfrm>
            <a:off x="5219700" y="1580257"/>
            <a:ext cx="19198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@mentions → @user, URLs → http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4705350" y="1904107"/>
            <a:ext cx="4057650" cy="540990"/>
          </a:xfrm>
          <a:prstGeom prst="roundRect">
            <a:avLst>
              <a:gd name="adj" fmla="val 1408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838700" y="2041178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FF6B9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5219700" y="2018407"/>
            <a:ext cx="10693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Tokenization</a:t>
            </a:r>
            <a:endParaRPr lang="en-US" sz="900" dirty="0">
              <a:solidFill>
                <a:srgbClr val="00B0F0"/>
              </a:solidFill>
            </a:endParaRPr>
          </a:p>
        </p:txBody>
      </p:sp>
      <p:sp>
        <p:nvSpPr>
          <p:cNvPr id="33" name="Text 30"/>
          <p:cNvSpPr/>
          <p:nvPr/>
        </p:nvSpPr>
        <p:spPr>
          <a:xfrm>
            <a:off x="5219700" y="2197447"/>
            <a:ext cx="10693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text to token IDs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5350" y="2521297"/>
            <a:ext cx="4057650" cy="540990"/>
          </a:xfrm>
          <a:prstGeom prst="roundRect">
            <a:avLst>
              <a:gd name="adj" fmla="val 1408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4838700" y="2658368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00B0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5219700" y="2635597"/>
            <a:ext cx="15824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RoBERTa Forward Pass</a:t>
            </a:r>
            <a:endParaRPr lang="en-US" sz="900" dirty="0">
              <a:solidFill>
                <a:srgbClr val="FF6B9D"/>
              </a:solidFill>
            </a:endParaRPr>
          </a:p>
        </p:txBody>
      </p:sp>
      <p:sp>
        <p:nvSpPr>
          <p:cNvPr id="37" name="Text 34"/>
          <p:cNvSpPr/>
          <p:nvPr/>
        </p:nvSpPr>
        <p:spPr>
          <a:xfrm>
            <a:off x="5219700" y="2814638"/>
            <a:ext cx="15824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inference with torch.no_grad()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4705350" y="3138488"/>
            <a:ext cx="4057650" cy="540990"/>
          </a:xfrm>
          <a:prstGeom prst="roundRect">
            <a:avLst>
              <a:gd name="adj" fmla="val 1408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4838700" y="3275558"/>
            <a:ext cx="266700" cy="266700"/>
          </a:xfrm>
          <a:prstGeom prst="roundRect">
            <a:avLst>
              <a:gd name="adj" fmla="val 21429"/>
            </a:avLst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5219700" y="3252788"/>
            <a:ext cx="16823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 + Argmax</a:t>
            </a:r>
            <a:endParaRPr lang="en-US" sz="9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1" name="Text 38"/>
          <p:cNvSpPr/>
          <p:nvPr/>
        </p:nvSpPr>
        <p:spPr>
          <a:xfrm>
            <a:off x="5219700" y="3431828"/>
            <a:ext cx="1682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 → prediction + confidence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4705350" y="3812828"/>
            <a:ext cx="4057650" cy="597991"/>
          </a:xfrm>
          <a:prstGeom prst="roundRect">
            <a:avLst>
              <a:gd name="adj" fmla="val 12743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4838700" y="3927128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Mapping</a:t>
            </a:r>
            <a:endParaRPr lang="en-US" sz="825" dirty="0"/>
          </a:p>
        </p:txBody>
      </p:sp>
      <p:sp>
        <p:nvSpPr>
          <p:cNvPr id="44" name="Text 41"/>
          <p:cNvSpPr/>
          <p:nvPr/>
        </p:nvSpPr>
        <p:spPr>
          <a:xfrm>
            <a:off x="4838700" y="4175522"/>
            <a:ext cx="95250" cy="9525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2"/>
          <p:cNvSpPr/>
          <p:nvPr/>
        </p:nvSpPr>
        <p:spPr>
          <a:xfrm>
            <a:off x="4991100" y="4149923"/>
            <a:ext cx="58535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= negative</a:t>
            </a:r>
            <a:endParaRPr lang="en-US" sz="825" dirty="0"/>
          </a:p>
        </p:txBody>
      </p:sp>
      <p:sp>
        <p:nvSpPr>
          <p:cNvPr id="46" name="Text 43"/>
          <p:cNvSpPr/>
          <p:nvPr/>
        </p:nvSpPr>
        <p:spPr>
          <a:xfrm>
            <a:off x="5717381" y="4175522"/>
            <a:ext cx="95250" cy="95250"/>
          </a:xfrm>
          <a:prstGeom prst="roundRect">
            <a:avLst>
              <a:gd name="adj" fmla="val 20000"/>
            </a:avLst>
          </a:prstGeom>
          <a:solidFill>
            <a:srgbClr val="8899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4"/>
          <p:cNvSpPr/>
          <p:nvPr/>
        </p:nvSpPr>
        <p:spPr>
          <a:xfrm>
            <a:off x="5869781" y="4149923"/>
            <a:ext cx="5080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neutral</a:t>
            </a:r>
            <a:endParaRPr lang="en-US" sz="825" dirty="0"/>
          </a:p>
        </p:txBody>
      </p:sp>
      <p:sp>
        <p:nvSpPr>
          <p:cNvPr id="48" name="Text 45"/>
          <p:cNvSpPr/>
          <p:nvPr/>
        </p:nvSpPr>
        <p:spPr>
          <a:xfrm>
            <a:off x="6520309" y="4175522"/>
            <a:ext cx="95250" cy="95250"/>
          </a:xfrm>
          <a:prstGeom prst="roundRect">
            <a:avLst>
              <a:gd name="adj" fmla="val 2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6"/>
          <p:cNvSpPr/>
          <p:nvPr/>
        </p:nvSpPr>
        <p:spPr>
          <a:xfrm>
            <a:off x="6672709" y="4149923"/>
            <a:ext cx="54361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= positive</a:t>
            </a:r>
            <a:endParaRPr lang="en-US" sz="825" dirty="0"/>
          </a:p>
        </p:txBody>
      </p:sp>
      <p:sp>
        <p:nvSpPr>
          <p:cNvPr id="50" name="Text 47"/>
          <p:cNvSpPr/>
          <p:nvPr/>
        </p:nvSpPr>
        <p:spPr>
          <a:xfrm>
            <a:off x="381000" y="4788081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preloaded at startup to avoid cold-start latency (~5-10s load time, ~500MB memory)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832076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1017" y="228600"/>
            <a:ext cx="1341983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7563892" y="295275"/>
            <a:ext cx="10773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Task 1: ML Foundation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 Study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025872"/>
            <a:ext cx="8382000" cy="2186880"/>
          </a:xfrm>
          <a:prstGeom prst="roundRect">
            <a:avLst>
              <a:gd name="adj" fmla="val 435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95300" y="1140172"/>
            <a:ext cx="83164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 NATIVE 3-CLASS MODELS EVALUATED ON 498 SAMPLES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5300" y="1531590"/>
            <a:ext cx="815340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495300" y="1349722"/>
            <a:ext cx="184594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356295" y="1349722"/>
            <a:ext cx="602361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003995" y="1349722"/>
            <a:ext cx="602361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F1-Score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651695" y="1349722"/>
            <a:ext cx="602361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Neg Prec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299394" y="1349722"/>
            <a:ext cx="602361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953000" y="1349722"/>
            <a:ext cx="376961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81000" y="1536353"/>
            <a:ext cx="8382000" cy="314325"/>
          </a:xfrm>
          <a:prstGeom prst="rect">
            <a:avLst/>
          </a:prstGeom>
          <a:solidFill>
            <a:srgbClr val="00D4AA">
              <a:alpha val="10000"/>
            </a:srgbClr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81000" y="1845915"/>
            <a:ext cx="83820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484445" y="1622078"/>
            <a:ext cx="10403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Twitter-RoBERTa-Latest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356295" y="16153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86.75%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003995" y="16153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86.60%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651695" y="16153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93.59%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4299394" y="1622078"/>
            <a:ext cx="602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36.1ms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95300" y="2160240"/>
            <a:ext cx="81534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0"/>
          <p:cNvSpPr/>
          <p:nvPr/>
        </p:nvSpPr>
        <p:spPr>
          <a:xfrm>
            <a:off x="495300" y="1936403"/>
            <a:ext cx="18459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BERTweet-Sentiment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2356295" y="192970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86.75%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3003995" y="192970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86.36%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3651695" y="192970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93.83%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299394" y="1936403"/>
            <a:ext cx="602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41.3ms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95300" y="2474565"/>
            <a:ext cx="81534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6"/>
          <p:cNvSpPr/>
          <p:nvPr/>
        </p:nvSpPr>
        <p:spPr>
          <a:xfrm>
            <a:off x="495300" y="2250728"/>
            <a:ext cx="18459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Twitter-RoBERTa-Original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2356295" y="224403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83.53%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3003995" y="224403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83.38%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3651695" y="224403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90.38%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299394" y="2250728"/>
            <a:ext cx="602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37.0ms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95300" y="2788890"/>
            <a:ext cx="81534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2"/>
          <p:cNvSpPr/>
          <p:nvPr/>
        </p:nvSpPr>
        <p:spPr>
          <a:xfrm>
            <a:off x="495300" y="2565053"/>
            <a:ext cx="18459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RoBERTa-Large-3Class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2356295" y="255835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81.73%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3003995" y="255835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81.69%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3651695" y="2558355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88.96%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4299394" y="2565053"/>
            <a:ext cx="602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145.2ms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495300" y="2879378"/>
            <a:ext cx="18459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DistilBERT-Multilingual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356295" y="28726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58.63%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003995" y="28726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47.23%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3651695" y="2872680"/>
            <a:ext cx="6023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72.04%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4299394" y="2879378"/>
            <a:ext cx="602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21.9ms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381000" y="3308003"/>
            <a:ext cx="2009775" cy="485626"/>
          </a:xfrm>
          <a:prstGeom prst="roundRect">
            <a:avLst>
              <a:gd name="adj" fmla="val 15691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395288" y="3308003"/>
            <a:ext cx="0" cy="485626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 44"/>
          <p:cNvSpPr/>
          <p:nvPr/>
        </p:nvSpPr>
        <p:spPr>
          <a:xfrm>
            <a:off x="504825" y="3403253"/>
            <a:ext cx="18265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Highest F1-Score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504825" y="3578423"/>
            <a:ext cx="182651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86.60% best balanced metric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2505075" y="3308003"/>
            <a:ext cx="2009775" cy="485626"/>
          </a:xfrm>
          <a:prstGeom prst="roundRect">
            <a:avLst>
              <a:gd name="adj" fmla="val 15691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2519363" y="3308003"/>
            <a:ext cx="0" cy="485626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8"/>
          <p:cNvSpPr/>
          <p:nvPr/>
        </p:nvSpPr>
        <p:spPr>
          <a:xfrm>
            <a:off x="2628900" y="3403253"/>
            <a:ext cx="18265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Excellent Neg Precision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628900" y="3578423"/>
            <a:ext cx="182651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93.59% fewer false escalations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4629150" y="3308003"/>
            <a:ext cx="2009775" cy="485626"/>
          </a:xfrm>
          <a:prstGeom prst="roundRect">
            <a:avLst>
              <a:gd name="adj" fmla="val 15691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4643438" y="3308003"/>
            <a:ext cx="0" cy="485626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2"/>
          <p:cNvSpPr/>
          <p:nvPr/>
        </p:nvSpPr>
        <p:spPr>
          <a:xfrm>
            <a:off x="4752975" y="3403253"/>
            <a:ext cx="18265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Fast + Accurate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4752975" y="3578423"/>
            <a:ext cx="182651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36.1ms 2nd fastest speed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6753225" y="3308003"/>
            <a:ext cx="2009775" cy="485626"/>
          </a:xfrm>
          <a:prstGeom prst="roundRect">
            <a:avLst>
              <a:gd name="adj" fmla="val 15691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767513" y="3308003"/>
            <a:ext cx="0" cy="485626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6"/>
          <p:cNvSpPr/>
          <p:nvPr/>
        </p:nvSpPr>
        <p:spPr>
          <a:xfrm>
            <a:off x="6877050" y="3403253"/>
            <a:ext cx="18265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FF6B9D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124M Tweets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6877050" y="3578423"/>
            <a:ext cx="182651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945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Robust to social media text</a:t>
            </a:r>
            <a:endParaRPr kumimoji="0" lang="en-US" sz="6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1" name="Image 1" descr="/tmp/rasterized-gradient-a53c3f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88879"/>
            <a:ext cx="8382000" cy="476250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85775" y="3993654"/>
            <a:ext cx="83358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Conclusion: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BERTweet matches accuracy but has 0.24% lower F1. RoBERTa-Large is 4x slower with worse results. DistilBERT has catastrophic 2.16% neutral recall. Our model wins on balanced performance.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9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2A4A6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All models native 3-class for fair comparison • Evaluated on sentiment_test_cases_2025.csv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1275E125-5127-F764-E382-4611DC20598B}"/>
              </a:ext>
            </a:extLst>
          </p:cNvPr>
          <p:cNvSpPr/>
          <p:nvPr/>
        </p:nvSpPr>
        <p:spPr>
          <a:xfrm>
            <a:off x="4812825" y="1614507"/>
            <a:ext cx="928051" cy="142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BEST CHOICE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00D4A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A5EA17A4-328B-4CE2-84A4-796C422DB956}"/>
              </a:ext>
            </a:extLst>
          </p:cNvPr>
          <p:cNvSpPr/>
          <p:nvPr/>
        </p:nvSpPr>
        <p:spPr>
          <a:xfrm>
            <a:off x="4752975" y="1923718"/>
            <a:ext cx="928051" cy="142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Strong Alt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849FAA21-E2B0-E63C-AEDC-7051AACA4645}"/>
              </a:ext>
            </a:extLst>
          </p:cNvPr>
          <p:cNvSpPr/>
          <p:nvPr/>
        </p:nvSpPr>
        <p:spPr>
          <a:xfrm>
            <a:off x="4772185" y="2248846"/>
            <a:ext cx="928051" cy="142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Good Option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Text 18">
            <a:extLst>
              <a:ext uri="{FF2B5EF4-FFF2-40B4-BE49-F238E27FC236}">
                <a16:creationId xmlns:a16="http://schemas.microsoft.com/office/drawing/2014/main" id="{8A215DAC-B926-5357-644F-D4D0581FC65E}"/>
              </a:ext>
            </a:extLst>
          </p:cNvPr>
          <p:cNvSpPr/>
          <p:nvPr/>
        </p:nvSpPr>
        <p:spPr>
          <a:xfrm>
            <a:off x="4768058" y="2867344"/>
            <a:ext cx="928051" cy="142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Poor Fit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C65C9146-A77D-AACA-E540-D697053964BB}"/>
              </a:ext>
            </a:extLst>
          </p:cNvPr>
          <p:cNvSpPr/>
          <p:nvPr/>
        </p:nvSpPr>
        <p:spPr>
          <a:xfrm>
            <a:off x="4755633" y="2554251"/>
            <a:ext cx="928051" cy="142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Poor Fit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5f614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1017" y="228600"/>
            <a:ext cx="1341983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563892" y="295275"/>
            <a:ext cx="10773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ML Foundation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Evaluation Results</a:t>
            </a:r>
            <a:endParaRPr lang="en-US" sz="2700" dirty="0"/>
          </a:p>
        </p:txBody>
      </p:sp>
      <p:pic>
        <p:nvPicPr>
          <p:cNvPr id="6" name="Image 1" descr="/tmp/rasterized-gradient-e8ff07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57548"/>
            <a:ext cx="3261420" cy="14284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2411" y="1057573"/>
            <a:ext cx="2918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ACCURACY</a:t>
            </a:r>
            <a:endParaRPr lang="en-US" sz="825" dirty="0"/>
          </a:p>
        </p:txBody>
      </p:sp>
      <p:sp>
        <p:nvSpPr>
          <p:cNvPr id="8" name="Text 4"/>
          <p:cNvSpPr/>
          <p:nvPr/>
        </p:nvSpPr>
        <p:spPr>
          <a:xfrm>
            <a:off x="552411" y="1242268"/>
            <a:ext cx="291859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86.75%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52411" y="1939379"/>
            <a:ext cx="2918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45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498 test samples • Exceeds 80% threshold ✓</a:t>
            </a:r>
            <a:endParaRPr lang="en-US" sz="825" dirty="0"/>
          </a:p>
        </p:txBody>
      </p:sp>
      <p:sp>
        <p:nvSpPr>
          <p:cNvPr id="10" name="Text 6"/>
          <p:cNvSpPr/>
          <p:nvPr/>
        </p:nvSpPr>
        <p:spPr>
          <a:xfrm>
            <a:off x="381000" y="2400300"/>
            <a:ext cx="3261420" cy="1220837"/>
          </a:xfrm>
          <a:prstGeom prst="roundRect">
            <a:avLst>
              <a:gd name="adj" fmla="val 7802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514350" y="2533650"/>
            <a:ext cx="3054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AVERAGES</a:t>
            </a:r>
            <a:endParaRPr lang="en-US" sz="825" dirty="0"/>
          </a:p>
        </p:txBody>
      </p:sp>
      <p:sp>
        <p:nvSpPr>
          <p:cNvPr id="12" name="Text 8"/>
          <p:cNvSpPr/>
          <p:nvPr/>
        </p:nvSpPr>
        <p:spPr>
          <a:xfrm>
            <a:off x="514350" y="2788741"/>
            <a:ext cx="4795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056781" y="2775496"/>
            <a:ext cx="46133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86.87%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14350" y="3051572"/>
            <a:ext cx="3241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56781" y="3038326"/>
            <a:ext cx="46133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86.68%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14350" y="3314402"/>
            <a:ext cx="4795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F1-Score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056781" y="3301157"/>
            <a:ext cx="46133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86.60%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81000" y="3735437"/>
            <a:ext cx="3261420" cy="798165"/>
          </a:xfrm>
          <a:prstGeom prst="roundRect">
            <a:avLst>
              <a:gd name="adj" fmla="val 1193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5"/>
          <p:cNvSpPr/>
          <p:nvPr/>
        </p:nvSpPr>
        <p:spPr>
          <a:xfrm>
            <a:off x="395288" y="3735437"/>
            <a:ext cx="0" cy="798165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6"/>
          <p:cNvSpPr/>
          <p:nvPr/>
        </p:nvSpPr>
        <p:spPr>
          <a:xfrm>
            <a:off x="542925" y="3868787"/>
            <a:ext cx="302546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542925" y="4085927"/>
            <a:ext cx="302546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45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93.6% precision on negative sentiment means escalations are almost always correct - critical for support workflows.</a:t>
            </a:r>
            <a:endParaRPr lang="en-US" sz="825" dirty="0"/>
          </a:p>
        </p:txBody>
      </p:sp>
      <p:sp>
        <p:nvSpPr>
          <p:cNvPr id="22" name="Text 18"/>
          <p:cNvSpPr/>
          <p:nvPr/>
        </p:nvSpPr>
        <p:spPr>
          <a:xfrm>
            <a:off x="3871020" y="1161157"/>
            <a:ext cx="4891980" cy="1817191"/>
          </a:xfrm>
          <a:prstGeom prst="roundRect">
            <a:avLst>
              <a:gd name="adj" fmla="val 5242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4004370" y="1294507"/>
            <a:ext cx="4717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90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PER-CLASS PERFORMANCE</a:t>
            </a:r>
            <a:endParaRPr lang="en-US" sz="825" dirty="0"/>
          </a:p>
        </p:txBody>
      </p:sp>
      <p:sp>
        <p:nvSpPr>
          <p:cNvPr id="24" name="Shape 20"/>
          <p:cNvSpPr/>
          <p:nvPr/>
        </p:nvSpPr>
        <p:spPr>
          <a:xfrm>
            <a:off x="4004370" y="1769715"/>
            <a:ext cx="462528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1"/>
          <p:cNvSpPr/>
          <p:nvPr/>
        </p:nvSpPr>
        <p:spPr>
          <a:xfrm>
            <a:off x="4004370" y="1555403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4835902" y="1555403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5578852" y="1555403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6321802" y="1555403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F1-Score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7065705" y="1555403"/>
            <a:ext cx="5829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4004370" y="2129730"/>
            <a:ext cx="462528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7"/>
          <p:cNvSpPr/>
          <p:nvPr/>
        </p:nvSpPr>
        <p:spPr>
          <a:xfrm>
            <a:off x="4004370" y="1911548"/>
            <a:ext cx="76200" cy="7620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4137720" y="1869728"/>
            <a:ext cx="4602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4835902" y="186972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93.59%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5578852" y="186972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82.49%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321802" y="186972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87.69%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7065705" y="1869728"/>
            <a:ext cx="5829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004370" y="2489746"/>
            <a:ext cx="462528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 34"/>
          <p:cNvSpPr/>
          <p:nvPr/>
        </p:nvSpPr>
        <p:spPr>
          <a:xfrm>
            <a:off x="4004370" y="2271564"/>
            <a:ext cx="76200" cy="76200"/>
          </a:xfrm>
          <a:prstGeom prst="roundRect">
            <a:avLst>
              <a:gd name="adj" fmla="val 25000"/>
            </a:avLst>
          </a:prstGeom>
          <a:solidFill>
            <a:srgbClr val="8899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5"/>
          <p:cNvSpPr/>
          <p:nvPr/>
        </p:nvSpPr>
        <p:spPr>
          <a:xfrm>
            <a:off x="4137720" y="2229743"/>
            <a:ext cx="37586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4835902" y="2229743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82.76%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5578852" y="2229743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86.33%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6321802" y="2229743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84.51%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065705" y="2229743"/>
            <a:ext cx="5829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4004370" y="2631579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4137720" y="2589758"/>
            <a:ext cx="408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4835902" y="258975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84.26%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5578852" y="258975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91.21%</a:t>
            </a:r>
            <a:endParaRPr lang="en-US" sz="900" dirty="0"/>
          </a:p>
        </p:txBody>
      </p:sp>
      <p:sp>
        <p:nvSpPr>
          <p:cNvPr id="48" name="Text 44"/>
          <p:cNvSpPr/>
          <p:nvPr/>
        </p:nvSpPr>
        <p:spPr>
          <a:xfrm>
            <a:off x="6321802" y="2589758"/>
            <a:ext cx="6800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87.60%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7065705" y="2589758"/>
            <a:ext cx="5829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3871020" y="3092648"/>
            <a:ext cx="4891980" cy="1137196"/>
          </a:xfrm>
          <a:prstGeom prst="roundRect">
            <a:avLst>
              <a:gd name="adj" fmla="val 837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7"/>
          <p:cNvSpPr/>
          <p:nvPr/>
        </p:nvSpPr>
        <p:spPr>
          <a:xfrm>
            <a:off x="4004370" y="3225998"/>
            <a:ext cx="4717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CONFUSION MATRIX INSIGHTS</a:t>
            </a:r>
            <a:endParaRPr lang="en-US" sz="825" dirty="0"/>
          </a:p>
        </p:txBody>
      </p:sp>
      <p:sp>
        <p:nvSpPr>
          <p:cNvPr id="52" name="Text 48"/>
          <p:cNvSpPr/>
          <p:nvPr/>
        </p:nvSpPr>
        <p:spPr>
          <a:xfrm>
            <a:off x="4004370" y="3467844"/>
            <a:ext cx="1465511" cy="62865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9"/>
          <p:cNvSpPr/>
          <p:nvPr/>
        </p:nvSpPr>
        <p:spPr>
          <a:xfrm>
            <a:off x="4086869" y="3563094"/>
            <a:ext cx="13005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1500" dirty="0"/>
          </a:p>
        </p:txBody>
      </p:sp>
      <p:sp>
        <p:nvSpPr>
          <p:cNvPr id="54" name="Text 50"/>
          <p:cNvSpPr/>
          <p:nvPr/>
        </p:nvSpPr>
        <p:spPr>
          <a:xfrm>
            <a:off x="4086869" y="3867894"/>
            <a:ext cx="13005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Negative</a:t>
            </a:r>
            <a:endParaRPr lang="en-US" sz="750" dirty="0"/>
          </a:p>
        </p:txBody>
      </p:sp>
      <p:sp>
        <p:nvSpPr>
          <p:cNvPr id="55" name="Text 51"/>
          <p:cNvSpPr/>
          <p:nvPr/>
        </p:nvSpPr>
        <p:spPr>
          <a:xfrm>
            <a:off x="5584180" y="3467844"/>
            <a:ext cx="1465511" cy="62865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2"/>
          <p:cNvSpPr/>
          <p:nvPr/>
        </p:nvSpPr>
        <p:spPr>
          <a:xfrm>
            <a:off x="5666680" y="3563094"/>
            <a:ext cx="13005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500" dirty="0"/>
          </a:p>
        </p:txBody>
      </p:sp>
      <p:sp>
        <p:nvSpPr>
          <p:cNvPr id="57" name="Text 53"/>
          <p:cNvSpPr/>
          <p:nvPr/>
        </p:nvSpPr>
        <p:spPr>
          <a:xfrm>
            <a:off x="5666680" y="3867894"/>
            <a:ext cx="13005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Neutral</a:t>
            </a:r>
            <a:endParaRPr lang="en-US" sz="750" dirty="0"/>
          </a:p>
        </p:txBody>
      </p:sp>
      <p:sp>
        <p:nvSpPr>
          <p:cNvPr id="58" name="Text 54"/>
          <p:cNvSpPr/>
          <p:nvPr/>
        </p:nvSpPr>
        <p:spPr>
          <a:xfrm>
            <a:off x="7163991" y="3467844"/>
            <a:ext cx="1465511" cy="62865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7246491" y="3563094"/>
            <a:ext cx="13005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500" dirty="0"/>
          </a:p>
        </p:txBody>
      </p:sp>
      <p:sp>
        <p:nvSpPr>
          <p:cNvPr id="60" name="Text 56"/>
          <p:cNvSpPr/>
          <p:nvPr/>
        </p:nvSpPr>
        <p:spPr>
          <a:xfrm>
            <a:off x="7246491" y="3867894"/>
            <a:ext cx="13005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Positive</a:t>
            </a:r>
            <a:endParaRPr lang="en-US" sz="750" dirty="0"/>
          </a:p>
        </p:txBody>
      </p:sp>
      <p:sp>
        <p:nvSpPr>
          <p:cNvPr id="61" name="Text 57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on sentiment_test_cases_2025.csv • Dataset balanced (36.5% pos, 35.5% neg, 27.9% neu)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f6ffc5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22220" y="228600"/>
            <a:ext cx="1240780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FF6B9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665095" y="295275"/>
            <a:ext cx="97413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API Services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API Endpoints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81000" y="982266"/>
            <a:ext cx="4076700" cy="2765524"/>
          </a:xfrm>
          <a:prstGeom prst="roundRect">
            <a:avLst>
              <a:gd name="adj" fmla="val 3444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42925" y="1144191"/>
            <a:ext cx="9826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</a:t>
            </a:r>
            <a:endParaRPr lang="en-US" sz="1125" dirty="0"/>
          </a:p>
        </p:txBody>
      </p:sp>
      <p:sp>
        <p:nvSpPr>
          <p:cNvPr id="8" name="Text 5"/>
          <p:cNvSpPr/>
          <p:nvPr/>
        </p:nvSpPr>
        <p:spPr>
          <a:xfrm>
            <a:off x="962174" y="1458516"/>
            <a:ext cx="4898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19324" y="1694706"/>
            <a:ext cx="5597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/predict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19324" y="1930896"/>
            <a:ext cx="9795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/predict/batch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2925" y="2205186"/>
            <a:ext cx="3752850" cy="1380679"/>
          </a:xfrm>
          <a:prstGeom prst="roundRect">
            <a:avLst>
              <a:gd name="adj" fmla="val 4139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38175" y="2300436"/>
            <a:ext cx="3633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Request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38175" y="2490936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{"text": "I love this!"}</a:t>
            </a:r>
            <a:endParaRPr lang="en-US" sz="825" dirty="0"/>
          </a:p>
        </p:txBody>
      </p:sp>
      <p:sp>
        <p:nvSpPr>
          <p:cNvPr id="14" name="Text 11"/>
          <p:cNvSpPr/>
          <p:nvPr/>
        </p:nvSpPr>
        <p:spPr>
          <a:xfrm>
            <a:off x="638175" y="2713732"/>
            <a:ext cx="3633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600"/>
              </a:spcBef>
              <a:spcAft>
                <a:spcPts val="450"/>
              </a:spcAft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Response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38175" y="2904232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638175" y="3050828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"model_output": </a:t>
            </a: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"positive"</a:t>
            </a: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638175" y="3197423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"confidence_score": </a:t>
            </a:r>
            <a:r>
              <a:rPr lang="en-US" sz="825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95.67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638175" y="3344019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381000" y="3862090"/>
            <a:ext cx="4076700" cy="546646"/>
          </a:xfrm>
          <a:prstGeom prst="roundRect">
            <a:avLst>
              <a:gd name="adj" fmla="val 13940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395288" y="3862090"/>
            <a:ext cx="0" cy="546646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8"/>
          <p:cNvSpPr/>
          <p:nvPr/>
        </p:nvSpPr>
        <p:spPr>
          <a:xfrm>
            <a:off x="523875" y="3976390"/>
            <a:ext cx="389591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Schemas</a:t>
            </a:r>
            <a:endParaRPr lang="en-US" sz="825" dirty="0"/>
          </a:p>
        </p:txBody>
      </p:sp>
      <p:sp>
        <p:nvSpPr>
          <p:cNvPr id="22" name="Text 19"/>
          <p:cNvSpPr/>
          <p:nvPr/>
        </p:nvSpPr>
        <p:spPr>
          <a:xfrm>
            <a:off x="523875" y="4161086"/>
            <a:ext cx="38959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 request/response validation with clear JSON schema definitions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4686300" y="1087189"/>
            <a:ext cx="4076700" cy="2555825"/>
          </a:xfrm>
          <a:prstGeom prst="roundRect">
            <a:avLst>
              <a:gd name="adj" fmla="val 3727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848225" y="1249114"/>
            <a:ext cx="6910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API</a:t>
            </a:r>
            <a:endParaRPr lang="en-US" sz="1125" dirty="0"/>
          </a:p>
        </p:txBody>
      </p:sp>
      <p:sp>
        <p:nvSpPr>
          <p:cNvPr id="25" name="Text 22"/>
          <p:cNvSpPr/>
          <p:nvPr/>
        </p:nvSpPr>
        <p:spPr>
          <a:xfrm>
            <a:off x="5267474" y="1563439"/>
            <a:ext cx="4898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324624" y="1799630"/>
            <a:ext cx="41989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/agent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848225" y="2073920"/>
            <a:ext cx="3752850" cy="1407170"/>
          </a:xfrm>
          <a:prstGeom prst="roundRect">
            <a:avLst>
              <a:gd name="adj" fmla="val 4061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943475" y="2169170"/>
            <a:ext cx="3633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Response Schema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943475" y="2359670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</a:t>
            </a:r>
            <a:endParaRPr lang="en-US" sz="825" dirty="0"/>
          </a:p>
        </p:txBody>
      </p:sp>
      <p:sp>
        <p:nvSpPr>
          <p:cNvPr id="30" name="Text 27"/>
          <p:cNvSpPr/>
          <p:nvPr/>
        </p:nvSpPr>
        <p:spPr>
          <a:xfrm>
            <a:off x="4943475" y="2506266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"sentiment_analysis": {...},</a:t>
            </a:r>
            <a:endParaRPr lang="en-US" sz="825" dirty="0"/>
          </a:p>
        </p:txBody>
      </p:sp>
      <p:sp>
        <p:nvSpPr>
          <p:cNvPr id="31" name="Text 28"/>
          <p:cNvSpPr/>
          <p:nvPr/>
        </p:nvSpPr>
        <p:spPr>
          <a:xfrm>
            <a:off x="4943475" y="2652861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"action_taken": </a:t>
            </a: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"escalate"</a:t>
            </a: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4943475" y="2799457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"agent_response": </a:t>
            </a: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"..."</a:t>
            </a: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825" dirty="0"/>
          </a:p>
        </p:txBody>
      </p:sp>
      <p:sp>
        <p:nvSpPr>
          <p:cNvPr id="33" name="Text 30"/>
          <p:cNvSpPr/>
          <p:nvPr/>
        </p:nvSpPr>
        <p:spPr>
          <a:xfrm>
            <a:off x="4943475" y="2946053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"escalated": </a:t>
            </a:r>
            <a:r>
              <a:rPr lang="en-US" sz="825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</a:t>
            </a: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4943475" y="3092648"/>
            <a:ext cx="3633597" cy="14659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"conversation_id": </a:t>
            </a: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"..."</a:t>
            </a:r>
            <a:endParaRPr lang="en-US" sz="825" dirty="0"/>
          </a:p>
        </p:txBody>
      </p:sp>
      <p:sp>
        <p:nvSpPr>
          <p:cNvPr id="35" name="Text 32"/>
          <p:cNvSpPr/>
          <p:nvPr/>
        </p:nvSpPr>
        <p:spPr>
          <a:xfrm>
            <a:off x="4943475" y="3239244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825" dirty="0"/>
          </a:p>
        </p:txBody>
      </p:sp>
      <p:sp>
        <p:nvSpPr>
          <p:cNvPr id="36" name="Text 33"/>
          <p:cNvSpPr/>
          <p:nvPr/>
        </p:nvSpPr>
        <p:spPr>
          <a:xfrm>
            <a:off x="4700588" y="3862090"/>
            <a:ext cx="4076700" cy="546646"/>
          </a:xfrm>
          <a:prstGeom prst="roundRect">
            <a:avLst>
              <a:gd name="adj" fmla="val 13940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4"/>
          <p:cNvSpPr/>
          <p:nvPr/>
        </p:nvSpPr>
        <p:spPr>
          <a:xfrm>
            <a:off x="4714876" y="3862090"/>
            <a:ext cx="0" cy="546646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 35"/>
          <p:cNvSpPr/>
          <p:nvPr/>
        </p:nvSpPr>
        <p:spPr>
          <a:xfrm>
            <a:off x="4843463" y="3976390"/>
            <a:ext cx="389591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Docs</a:t>
            </a:r>
            <a:endParaRPr lang="en-US" sz="825" dirty="0"/>
          </a:p>
        </p:txBody>
      </p:sp>
      <p:sp>
        <p:nvSpPr>
          <p:cNvPr id="39" name="Text 36"/>
          <p:cNvSpPr/>
          <p:nvPr/>
        </p:nvSpPr>
        <p:spPr>
          <a:xfrm>
            <a:off x="4843463" y="4161086"/>
            <a:ext cx="38959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at /docs • ReDoc at /redoc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FastAPI for high performance async handling • Auto-generated OpenAPI documentation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c59812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90209" y="228600"/>
            <a:ext cx="1372791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533084" y="295275"/>
            <a:ext cx="11087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Agent Workflow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Agent Pattern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81000" y="1139279"/>
            <a:ext cx="2819400" cy="857101"/>
          </a:xfrm>
          <a:prstGeom prst="roundRect">
            <a:avLst>
              <a:gd name="adj" fmla="val 11113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14350" y="1272629"/>
            <a:ext cx="2603754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r>
              <a:rPr lang="en-US" sz="210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14350" y="1703040"/>
            <a:ext cx="26037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r>
              <a:rPr lang="en-US" sz="900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390900" y="1248668"/>
            <a:ext cx="5372100" cy="638175"/>
          </a:xfrm>
          <a:prstGeom prst="roundRect">
            <a:avLst>
              <a:gd name="adj" fmla="val 1492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524250" y="1382018"/>
            <a:ext cx="520750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alternates between thinking about what to do, taking actions via tools, and observing results until it has enough information to respond.</a:t>
            </a:r>
            <a:endParaRPr lang="en-US" sz="975" dirty="0"/>
          </a:p>
        </p:txBody>
      </p:sp>
      <p:sp>
        <p:nvSpPr>
          <p:cNvPr id="11" name="Text 8"/>
          <p:cNvSpPr/>
          <p:nvPr/>
        </p:nvSpPr>
        <p:spPr>
          <a:xfrm>
            <a:off x="381000" y="2148780"/>
            <a:ext cx="8382000" cy="1390650"/>
          </a:xfrm>
          <a:prstGeom prst="roundRect">
            <a:avLst>
              <a:gd name="adj" fmla="val 6849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/tmp/rasterized-gradient-f885bd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0" y="2301180"/>
            <a:ext cx="762000" cy="7620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27410" y="2608808"/>
            <a:ext cx="32653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</a:t>
            </a:r>
            <a:endParaRPr lang="en-US" sz="825" dirty="0"/>
          </a:p>
        </p:txBody>
      </p:sp>
      <p:sp>
        <p:nvSpPr>
          <p:cNvPr id="14" name="Text 10"/>
          <p:cNvSpPr/>
          <p:nvPr/>
        </p:nvSpPr>
        <p:spPr>
          <a:xfrm>
            <a:off x="1802130" y="312033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about</a:t>
            </a:r>
            <a:endParaRPr lang="en-US" sz="750" dirty="0"/>
          </a:p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2686050" y="2834580"/>
            <a:ext cx="476250" cy="190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3162300" y="2820293"/>
            <a:ext cx="76200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3"/>
          <p:cNvSpPr/>
          <p:nvPr/>
        </p:nvSpPr>
        <p:spPr>
          <a:xfrm>
            <a:off x="3162300" y="2867918"/>
            <a:ext cx="76200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4"/>
          <p:cNvSpPr/>
          <p:nvPr/>
        </p:nvSpPr>
        <p:spPr>
          <a:xfrm>
            <a:off x="3200400" y="2796480"/>
            <a:ext cx="0" cy="95250"/>
          </a:xfrm>
          <a:prstGeom prst="line">
            <a:avLst/>
          </a:prstGeom>
          <a:noFill/>
          <a:ln w="762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9" name="Image 2" descr="/tmp/rasterized-gradient-1d18f5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2301180"/>
            <a:ext cx="762000" cy="7620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623895" y="2608808"/>
            <a:ext cx="21966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825" dirty="0"/>
          </a:p>
        </p:txBody>
      </p:sp>
      <p:sp>
        <p:nvSpPr>
          <p:cNvPr id="21" name="Text 16"/>
          <p:cNvSpPr/>
          <p:nvPr/>
        </p:nvSpPr>
        <p:spPr>
          <a:xfrm>
            <a:off x="3345180" y="312033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a tool</a:t>
            </a:r>
            <a:endParaRPr lang="en-US" sz="750" dirty="0"/>
          </a:p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get data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4229100" y="2834580"/>
            <a:ext cx="476250" cy="19050"/>
          </a:xfrm>
          <a:prstGeom prst="rect">
            <a:avLst/>
          </a:prstGeom>
          <a:solidFill>
            <a:srgbClr val="FF6B9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18"/>
          <p:cNvSpPr/>
          <p:nvPr/>
        </p:nvSpPr>
        <p:spPr>
          <a:xfrm>
            <a:off x="4705350" y="2820293"/>
            <a:ext cx="76200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4705350" y="2867918"/>
            <a:ext cx="76200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0"/>
          <p:cNvSpPr/>
          <p:nvPr/>
        </p:nvSpPr>
        <p:spPr>
          <a:xfrm>
            <a:off x="4743450" y="2796480"/>
            <a:ext cx="0" cy="95250"/>
          </a:xfrm>
          <a:prstGeom prst="line">
            <a:avLst/>
          </a:prstGeom>
          <a:noFill/>
          <a:ln w="76200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6" name="Image 3" descr="/tmp/rasterized-gradient-9b429d6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5850" y="2301180"/>
            <a:ext cx="762000" cy="7620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016505" y="2608808"/>
            <a:ext cx="5206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825" dirty="0"/>
          </a:p>
        </p:txBody>
      </p:sp>
      <p:sp>
        <p:nvSpPr>
          <p:cNvPr id="28" name="Text 22"/>
          <p:cNvSpPr/>
          <p:nvPr/>
        </p:nvSpPr>
        <p:spPr>
          <a:xfrm>
            <a:off x="4888230" y="312033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750" dirty="0"/>
          </a:p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results</a:t>
            </a:r>
            <a:endParaRPr lang="en-US" sz="750" dirty="0"/>
          </a:p>
        </p:txBody>
      </p:sp>
      <p:sp>
        <p:nvSpPr>
          <p:cNvPr id="37" name="Text 30"/>
          <p:cNvSpPr/>
          <p:nvPr/>
        </p:nvSpPr>
        <p:spPr>
          <a:xfrm>
            <a:off x="6564630" y="312033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answer</a:t>
            </a:r>
            <a:endParaRPr lang="en-US" sz="750" dirty="0"/>
          </a:p>
          <a:p>
            <a:pPr marL="0" indent="0" algn="ctr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user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389878" y="3839469"/>
            <a:ext cx="1995487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2"/>
          <p:cNvSpPr/>
          <p:nvPr/>
        </p:nvSpPr>
        <p:spPr>
          <a:xfrm>
            <a:off x="404166" y="3839469"/>
            <a:ext cx="0" cy="560040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3"/>
          <p:cNvSpPr/>
          <p:nvPr/>
        </p:nvSpPr>
        <p:spPr>
          <a:xfrm>
            <a:off x="532753" y="3953769"/>
            <a:ext cx="1773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532753" y="4151860"/>
            <a:ext cx="1773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is logged and explainable</a:t>
            </a:r>
            <a:endParaRPr lang="en-US" sz="750" dirty="0"/>
          </a:p>
        </p:txBody>
      </p:sp>
      <p:sp>
        <p:nvSpPr>
          <p:cNvPr id="42" name="Text 35"/>
          <p:cNvSpPr/>
          <p:nvPr/>
        </p:nvSpPr>
        <p:spPr>
          <a:xfrm>
            <a:off x="2518716" y="3839469"/>
            <a:ext cx="1995487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36"/>
          <p:cNvSpPr/>
          <p:nvPr/>
        </p:nvSpPr>
        <p:spPr>
          <a:xfrm>
            <a:off x="2533003" y="3839469"/>
            <a:ext cx="0" cy="560040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 37"/>
          <p:cNvSpPr/>
          <p:nvPr/>
        </p:nvSpPr>
        <p:spPr>
          <a:xfrm>
            <a:off x="2661591" y="3953769"/>
            <a:ext cx="1773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2661591" y="4151860"/>
            <a:ext cx="1773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real data, not guessing</a:t>
            </a:r>
            <a:endParaRPr lang="en-US" sz="750" dirty="0"/>
          </a:p>
        </p:txBody>
      </p:sp>
      <p:sp>
        <p:nvSpPr>
          <p:cNvPr id="46" name="Text 39"/>
          <p:cNvSpPr/>
          <p:nvPr/>
        </p:nvSpPr>
        <p:spPr>
          <a:xfrm>
            <a:off x="4647553" y="3839469"/>
            <a:ext cx="1995487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0"/>
          <p:cNvSpPr/>
          <p:nvPr/>
        </p:nvSpPr>
        <p:spPr>
          <a:xfrm>
            <a:off x="4661841" y="3839469"/>
            <a:ext cx="0" cy="560040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1"/>
          <p:cNvSpPr/>
          <p:nvPr/>
        </p:nvSpPr>
        <p:spPr>
          <a:xfrm>
            <a:off x="4790428" y="3953769"/>
            <a:ext cx="1773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900" dirty="0"/>
          </a:p>
        </p:txBody>
      </p:sp>
      <p:sp>
        <p:nvSpPr>
          <p:cNvPr id="49" name="Text 42"/>
          <p:cNvSpPr/>
          <p:nvPr/>
        </p:nvSpPr>
        <p:spPr>
          <a:xfrm>
            <a:off x="4790428" y="4151860"/>
            <a:ext cx="1773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logic applied to every message</a:t>
            </a:r>
            <a:endParaRPr lang="en-US" sz="750" dirty="0"/>
          </a:p>
        </p:txBody>
      </p:sp>
      <p:sp>
        <p:nvSpPr>
          <p:cNvPr id="50" name="Text 43"/>
          <p:cNvSpPr/>
          <p:nvPr/>
        </p:nvSpPr>
        <p:spPr>
          <a:xfrm>
            <a:off x="6776391" y="3839469"/>
            <a:ext cx="1995487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Shape 44"/>
          <p:cNvSpPr/>
          <p:nvPr/>
        </p:nvSpPr>
        <p:spPr>
          <a:xfrm>
            <a:off x="6790678" y="3839469"/>
            <a:ext cx="0" cy="560040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Text 45"/>
          <p:cNvSpPr/>
          <p:nvPr/>
        </p:nvSpPr>
        <p:spPr>
          <a:xfrm>
            <a:off x="6919266" y="3953769"/>
            <a:ext cx="1773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</a:t>
            </a:r>
            <a:endParaRPr lang="en-US" sz="900" dirty="0"/>
          </a:p>
        </p:txBody>
      </p:sp>
      <p:sp>
        <p:nvSpPr>
          <p:cNvPr id="53" name="Text 46"/>
          <p:cNvSpPr/>
          <p:nvPr/>
        </p:nvSpPr>
        <p:spPr>
          <a:xfrm>
            <a:off x="6919266" y="4151860"/>
            <a:ext cx="1773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add new tools or modify</a:t>
            </a:r>
            <a:endParaRPr lang="en-US" sz="750" dirty="0"/>
          </a:p>
        </p:txBody>
      </p:sp>
      <p:sp>
        <p:nvSpPr>
          <p:cNvPr id="54" name="Text 47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with LangGraph's create_react_agent() • Powered by GPT-5-mini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292B0800-6EA9-FD5F-4B6B-116650AFCAD2}"/>
              </a:ext>
            </a:extLst>
          </p:cNvPr>
          <p:cNvSpPr/>
          <p:nvPr/>
        </p:nvSpPr>
        <p:spPr>
          <a:xfrm>
            <a:off x="5873115" y="2796480"/>
            <a:ext cx="476250" cy="19050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7FAD4637-977D-B867-320A-D850B035613F}"/>
              </a:ext>
            </a:extLst>
          </p:cNvPr>
          <p:cNvSpPr/>
          <p:nvPr/>
        </p:nvSpPr>
        <p:spPr>
          <a:xfrm>
            <a:off x="6387465" y="2758380"/>
            <a:ext cx="0" cy="95250"/>
          </a:xfrm>
          <a:prstGeom prst="line">
            <a:avLst/>
          </a:prstGeom>
          <a:noFill/>
          <a:ln w="762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60" name="Image 1" descr="/tmp/rasterized-gradient-f885bd02.png">
            <a:extLst>
              <a:ext uri="{FF2B5EF4-FFF2-40B4-BE49-F238E27FC236}">
                <a16:creationId xmlns:a16="http://schemas.microsoft.com/office/drawing/2014/main" id="{9206D83D-74DD-CD23-A646-8A6C19E75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963" y="2301106"/>
            <a:ext cx="762000" cy="762000"/>
          </a:xfrm>
          <a:prstGeom prst="rect">
            <a:avLst/>
          </a:prstGeom>
        </p:spPr>
      </p:pic>
      <p:sp>
        <p:nvSpPr>
          <p:cNvPr id="61" name="Text 29">
            <a:extLst>
              <a:ext uri="{FF2B5EF4-FFF2-40B4-BE49-F238E27FC236}">
                <a16:creationId xmlns:a16="http://schemas.microsoft.com/office/drawing/2014/main" id="{64EAAF86-FE6E-7312-6F16-563EC038D1E6}"/>
              </a:ext>
            </a:extLst>
          </p:cNvPr>
          <p:cNvSpPr/>
          <p:nvPr/>
        </p:nvSpPr>
        <p:spPr>
          <a:xfrm>
            <a:off x="6764792" y="2637369"/>
            <a:ext cx="4804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</a:t>
            </a:r>
            <a:endParaRPr lang="en-US" sz="750" dirty="0">
              <a:solidFill>
                <a:srgbClr val="00D4A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dcb9c0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90209" y="228600"/>
            <a:ext cx="1372791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533084" y="295275"/>
            <a:ext cx="11087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Agent Workflow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Agent Tools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81000" y="876300"/>
            <a:ext cx="4124325" cy="1752600"/>
          </a:xfrm>
          <a:prstGeom prst="roundRect">
            <a:avLst>
              <a:gd name="adj" fmla="val 5435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42925" y="103822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00B0F0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942975" y="1097310"/>
            <a:ext cx="138764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analyze_sentiment</a:t>
            </a:r>
            <a:endParaRPr lang="en-US" sz="1050" dirty="0">
              <a:solidFill>
                <a:srgbClr val="00B0F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542925" y="1438275"/>
            <a:ext cx="3876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emotional tone of customer message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2925" y="1674465"/>
            <a:ext cx="3800475" cy="285750"/>
          </a:xfrm>
          <a:prstGeom prst="roundRect">
            <a:avLst>
              <a:gd name="adj" fmla="val 2000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19125" y="1750665"/>
            <a:ext cx="37210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Returns: sentiment + confidence score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42925" y="207451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B0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7225" y="2036415"/>
            <a:ext cx="9143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called first</a:t>
            </a:r>
            <a:endParaRPr lang="en-US" sz="750" dirty="0">
              <a:solidFill>
                <a:srgbClr val="00B0F0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4638675" y="876300"/>
            <a:ext cx="4124325" cy="1752600"/>
          </a:xfrm>
          <a:prstGeom prst="roundRect">
            <a:avLst>
              <a:gd name="adj" fmla="val 5435"/>
            </a:avLst>
          </a:prstGeom>
          <a:solidFill>
            <a:srgbClr val="152238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811607" y="103822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FF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200650" y="1097310"/>
            <a:ext cx="155098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escalate_to_support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00600" y="1438275"/>
            <a:ext cx="3876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conversation for human intervention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800600" y="1674465"/>
            <a:ext cx="3800475" cy="285750"/>
          </a:xfrm>
          <a:prstGeom prst="roundRect">
            <a:avLst>
              <a:gd name="adj" fmla="val 2000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76800" y="1750665"/>
            <a:ext cx="37210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Returns: ticket_id, escalation status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800600" y="207451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914900" y="2036415"/>
            <a:ext cx="1165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sentiment ≥80%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381000" y="2762250"/>
            <a:ext cx="4124325" cy="1752600"/>
          </a:xfrm>
          <a:prstGeom prst="roundRect">
            <a:avLst>
              <a:gd name="adj" fmla="val 5435"/>
            </a:avLst>
          </a:prstGeom>
          <a:solidFill>
            <a:srgbClr val="152238"/>
          </a:solidFill>
          <a:ln w="9525">
            <a:solidFill>
              <a:srgbClr val="8899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542925" y="2924175"/>
            <a:ext cx="304800" cy="304800"/>
          </a:xfrm>
          <a:prstGeom prst="roundRect">
            <a:avLst>
              <a:gd name="adj" fmla="val 18750"/>
            </a:avLst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42975" y="2983260"/>
            <a:ext cx="187736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ask_clarifying_question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42925" y="3324225"/>
            <a:ext cx="3876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more information from customer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42925" y="3560415"/>
            <a:ext cx="3800475" cy="285750"/>
          </a:xfrm>
          <a:prstGeom prst="roundRect">
            <a:avLst>
              <a:gd name="adj" fmla="val 2000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19125" y="3636615"/>
            <a:ext cx="37210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Types: issue_details, order_info, feedback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542925" y="396046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8899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57225" y="3922365"/>
            <a:ext cx="1187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or low confidence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4638675" y="2762250"/>
            <a:ext cx="4124325" cy="1752600"/>
          </a:xfrm>
          <a:prstGeom prst="roundRect">
            <a:avLst>
              <a:gd name="adj" fmla="val 5435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800600" y="292417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5200650" y="2983260"/>
            <a:ext cx="187736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send_thank_you_response</a:t>
            </a:r>
            <a:endParaRPr lang="en-US" sz="1050" dirty="0">
              <a:solidFill>
                <a:srgbClr val="00D4AA"/>
              </a:solidFill>
            </a:endParaRPr>
          </a:p>
        </p:txBody>
      </p:sp>
      <p:sp>
        <p:nvSpPr>
          <p:cNvPr id="33" name="Text 30"/>
          <p:cNvSpPr/>
          <p:nvPr/>
        </p:nvSpPr>
        <p:spPr>
          <a:xfrm>
            <a:off x="4800600" y="3324225"/>
            <a:ext cx="3876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Acknowledge positive customer feedback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800600" y="3560415"/>
            <a:ext cx="3800475" cy="285750"/>
          </a:xfrm>
          <a:prstGeom prst="roundRect">
            <a:avLst>
              <a:gd name="adj" fmla="val 2000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4876800" y="3636615"/>
            <a:ext cx="37210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Types: product, service, general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4800600" y="396046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4914900" y="3922365"/>
            <a:ext cx="11332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sentiment ≥80%</a:t>
            </a:r>
            <a:endParaRPr lang="en-US" sz="750" dirty="0">
              <a:solidFill>
                <a:srgbClr val="00D4AA"/>
              </a:solidFill>
            </a:endParaRPr>
          </a:p>
        </p:txBody>
      </p:sp>
      <p:sp>
        <p:nvSpPr>
          <p:cNvPr id="38" name="Text 35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defined with @tool decorator from LangChain • Agent selects tools based on system prompt instructions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70ac97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90209" y="228600"/>
            <a:ext cx="1372791" cy="279946"/>
          </a:xfrm>
          <a:prstGeom prst="roundRect">
            <a:avLst>
              <a:gd name="adj" fmla="val 3399039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533084" y="295275"/>
            <a:ext cx="11087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Agent Workflow</a:t>
            </a:r>
            <a:endParaRPr lang="en-US" sz="825" dirty="0"/>
          </a:p>
        </p:txBody>
      </p:sp>
      <p:sp>
        <p:nvSpPr>
          <p:cNvPr id="5" name="Text 2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Logic Matrix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81000" y="864989"/>
            <a:ext cx="8382000" cy="2678311"/>
          </a:xfrm>
          <a:prstGeom prst="roundRect">
            <a:avLst>
              <a:gd name="adj" fmla="val 3556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33400" y="1017389"/>
            <a:ext cx="82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Sentiment-Based Routing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33400" y="1538288"/>
            <a:ext cx="807720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533400" y="1291679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</a:t>
            </a:r>
            <a:endParaRPr lang="en-US" sz="825" dirty="0"/>
          </a:p>
        </p:txBody>
      </p:sp>
      <p:sp>
        <p:nvSpPr>
          <p:cNvPr id="10" name="Text 7"/>
          <p:cNvSpPr/>
          <p:nvPr/>
        </p:nvSpPr>
        <p:spPr>
          <a:xfrm>
            <a:off x="1581150" y="1291679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2628900" y="1291679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Called</a:t>
            </a:r>
            <a:endParaRPr lang="en-US" sz="825" dirty="0"/>
          </a:p>
        </p:txBody>
      </p:sp>
      <p:sp>
        <p:nvSpPr>
          <p:cNvPr id="12" name="Text 9"/>
          <p:cNvSpPr/>
          <p:nvPr/>
        </p:nvSpPr>
        <p:spPr>
          <a:xfrm>
            <a:off x="4248150" y="1291679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</a:t>
            </a:r>
            <a:endParaRPr lang="en-US" sz="825" dirty="0"/>
          </a:p>
        </p:txBody>
      </p:sp>
      <p:sp>
        <p:nvSpPr>
          <p:cNvPr id="13" name="Shape 10"/>
          <p:cNvSpPr/>
          <p:nvPr/>
        </p:nvSpPr>
        <p:spPr>
          <a:xfrm>
            <a:off x="533400" y="1909762"/>
            <a:ext cx="80772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1"/>
          <p:cNvSpPr/>
          <p:nvPr/>
        </p:nvSpPr>
        <p:spPr>
          <a:xfrm>
            <a:off x="1581150" y="1643955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628900" y="1650653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escalate_to_support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4248150" y="1650653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clearly upset, needs human help</a:t>
            </a:r>
            <a:endParaRPr lang="en-US" sz="825" dirty="0"/>
          </a:p>
        </p:txBody>
      </p:sp>
      <p:sp>
        <p:nvSpPr>
          <p:cNvPr id="17" name="Shape 14"/>
          <p:cNvSpPr/>
          <p:nvPr/>
        </p:nvSpPr>
        <p:spPr>
          <a:xfrm>
            <a:off x="533400" y="2281238"/>
            <a:ext cx="80772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5"/>
          <p:cNvSpPr/>
          <p:nvPr/>
        </p:nvSpPr>
        <p:spPr>
          <a:xfrm>
            <a:off x="1581150" y="2015430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80%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628900" y="2022128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ask_clarifying_question</a:t>
            </a:r>
            <a:endParaRPr lang="en-US" sz="825" dirty="0"/>
          </a:p>
        </p:txBody>
      </p:sp>
      <p:sp>
        <p:nvSpPr>
          <p:cNvPr id="20" name="Text 17"/>
          <p:cNvSpPr/>
          <p:nvPr/>
        </p:nvSpPr>
        <p:spPr>
          <a:xfrm>
            <a:off x="4248150" y="2022128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Might be misread, gather more info</a:t>
            </a:r>
            <a:endParaRPr lang="en-US" sz="825" dirty="0"/>
          </a:p>
        </p:txBody>
      </p:sp>
      <p:sp>
        <p:nvSpPr>
          <p:cNvPr id="21" name="Shape 18"/>
          <p:cNvSpPr/>
          <p:nvPr/>
        </p:nvSpPr>
        <p:spPr>
          <a:xfrm>
            <a:off x="533400" y="2652713"/>
            <a:ext cx="80772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19"/>
          <p:cNvSpPr/>
          <p:nvPr/>
        </p:nvSpPr>
        <p:spPr>
          <a:xfrm>
            <a:off x="1581150" y="2386905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2628900" y="2393603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ask_clarifying_question</a:t>
            </a:r>
            <a:endParaRPr lang="en-US" sz="825" dirty="0"/>
          </a:p>
        </p:txBody>
      </p:sp>
      <p:sp>
        <p:nvSpPr>
          <p:cNvPr id="24" name="Text 21"/>
          <p:cNvSpPr/>
          <p:nvPr/>
        </p:nvSpPr>
        <p:spPr>
          <a:xfrm>
            <a:off x="4248150" y="2393603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unclear, probe for specifics</a:t>
            </a:r>
            <a:endParaRPr lang="en-US" sz="825" dirty="0"/>
          </a:p>
        </p:txBody>
      </p:sp>
      <p:sp>
        <p:nvSpPr>
          <p:cNvPr id="25" name="Shape 22"/>
          <p:cNvSpPr/>
          <p:nvPr/>
        </p:nvSpPr>
        <p:spPr>
          <a:xfrm>
            <a:off x="533400" y="3024188"/>
            <a:ext cx="80772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3"/>
          <p:cNvSpPr/>
          <p:nvPr/>
        </p:nvSpPr>
        <p:spPr>
          <a:xfrm>
            <a:off x="1581150" y="2758380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628900" y="2765078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send_thank_you_response</a:t>
            </a:r>
            <a:endParaRPr lang="en-US" sz="825" dirty="0"/>
          </a:p>
        </p:txBody>
      </p:sp>
      <p:sp>
        <p:nvSpPr>
          <p:cNvPr id="28" name="Text 25"/>
          <p:cNvSpPr/>
          <p:nvPr/>
        </p:nvSpPr>
        <p:spPr>
          <a:xfrm>
            <a:off x="4248150" y="2765078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satisfied, acknowledge it</a:t>
            </a:r>
            <a:endParaRPr lang="en-US" sz="825" dirty="0"/>
          </a:p>
        </p:txBody>
      </p:sp>
      <p:sp>
        <p:nvSpPr>
          <p:cNvPr id="29" name="Text 26"/>
          <p:cNvSpPr/>
          <p:nvPr/>
        </p:nvSpPr>
        <p:spPr>
          <a:xfrm>
            <a:off x="1581150" y="3129855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80%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628900" y="3136553"/>
            <a:ext cx="15544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ask_clarifying_question</a:t>
            </a:r>
            <a:endParaRPr lang="en-US" sz="825" dirty="0"/>
          </a:p>
        </p:txBody>
      </p:sp>
      <p:sp>
        <p:nvSpPr>
          <p:cNvPr id="31" name="Text 28"/>
          <p:cNvSpPr/>
          <p:nvPr/>
        </p:nvSpPr>
        <p:spPr>
          <a:xfrm>
            <a:off x="4248150" y="3136553"/>
            <a:ext cx="44496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satisfaction before closing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381000" y="3695700"/>
            <a:ext cx="4114800" cy="830461"/>
          </a:xfrm>
          <a:prstGeom prst="roundRect">
            <a:avLst>
              <a:gd name="adj" fmla="val 11470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Shape 30"/>
          <p:cNvSpPr/>
          <p:nvPr/>
        </p:nvSpPr>
        <p:spPr>
          <a:xfrm>
            <a:off x="395288" y="3695700"/>
            <a:ext cx="0" cy="830461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1"/>
          <p:cNvSpPr/>
          <p:nvPr/>
        </p:nvSpPr>
        <p:spPr>
          <a:xfrm>
            <a:off x="542925" y="3829050"/>
            <a:ext cx="389591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80% Threshold?</a:t>
            </a:r>
            <a:endParaRPr lang="en-US" sz="975" dirty="0"/>
          </a:p>
        </p:txBody>
      </p:sp>
      <p:sp>
        <p:nvSpPr>
          <p:cNvPr id="35" name="Text 32"/>
          <p:cNvSpPr/>
          <p:nvPr/>
        </p:nvSpPr>
        <p:spPr>
          <a:xfrm>
            <a:off x="542925" y="4078486"/>
            <a:ext cx="38959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Balances confidence with caution. Too low (50%) would escalate ambiguous messages. Too high (95%) would miss upset customers.</a:t>
            </a:r>
            <a:endParaRPr lang="en-US" sz="825" dirty="0"/>
          </a:p>
        </p:txBody>
      </p:sp>
      <p:sp>
        <p:nvSpPr>
          <p:cNvPr id="36" name="Text 33"/>
          <p:cNvSpPr/>
          <p:nvPr/>
        </p:nvSpPr>
        <p:spPr>
          <a:xfrm>
            <a:off x="4648200" y="3695700"/>
            <a:ext cx="4114800" cy="830461"/>
          </a:xfrm>
          <a:prstGeom prst="roundRect">
            <a:avLst>
              <a:gd name="adj" fmla="val 11470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4"/>
          <p:cNvSpPr/>
          <p:nvPr/>
        </p:nvSpPr>
        <p:spPr>
          <a:xfrm>
            <a:off x="4662488" y="3695700"/>
            <a:ext cx="0" cy="830461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 35"/>
          <p:cNvSpPr/>
          <p:nvPr/>
        </p:nvSpPr>
        <p:spPr>
          <a:xfrm>
            <a:off x="4810125" y="3829050"/>
            <a:ext cx="389591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Driven</a:t>
            </a:r>
            <a:endParaRPr lang="en-US" sz="975" dirty="0"/>
          </a:p>
        </p:txBody>
      </p:sp>
      <p:sp>
        <p:nvSpPr>
          <p:cNvPr id="39" name="Text 36"/>
          <p:cNvSpPr/>
          <p:nvPr/>
        </p:nvSpPr>
        <p:spPr>
          <a:xfrm>
            <a:off x="4810125" y="4078486"/>
            <a:ext cx="38959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rules defined in agent's system prompt. Easy to modify thresholds or add new conditions without code changes.</a:t>
            </a:r>
            <a:endParaRPr lang="en-US" sz="825" dirty="0"/>
          </a:p>
        </p:txBody>
      </p:sp>
      <p:sp>
        <p:nvSpPr>
          <p:cNvPr id="40" name="Text 37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uses GPT-5-mini for reasoning with explicit workflow instructions in the system prompt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4FD9A94-ED74-8F5A-3B3E-E5657EEB8659}"/>
              </a:ext>
            </a:extLst>
          </p:cNvPr>
          <p:cNvSpPr/>
          <p:nvPr/>
        </p:nvSpPr>
        <p:spPr>
          <a:xfrm>
            <a:off x="544449" y="1638882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6CC8E0C8-EB17-56EB-72C0-A838F9A2C628}"/>
              </a:ext>
            </a:extLst>
          </p:cNvPr>
          <p:cNvSpPr/>
          <p:nvPr/>
        </p:nvSpPr>
        <p:spPr>
          <a:xfrm>
            <a:off x="533400" y="1992660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E487FF2A-A608-E65C-89E4-9D747D13B099}"/>
              </a:ext>
            </a:extLst>
          </p:cNvPr>
          <p:cNvSpPr/>
          <p:nvPr/>
        </p:nvSpPr>
        <p:spPr>
          <a:xfrm>
            <a:off x="533400" y="2364134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C283A5DF-1826-B79E-246F-F4DA94B3F90A}"/>
              </a:ext>
            </a:extLst>
          </p:cNvPr>
          <p:cNvSpPr/>
          <p:nvPr/>
        </p:nvSpPr>
        <p:spPr>
          <a:xfrm>
            <a:off x="533400" y="2736504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D7C23917-C9DF-C2CD-CBDA-F0F3E6D20030}"/>
              </a:ext>
            </a:extLst>
          </p:cNvPr>
          <p:cNvSpPr/>
          <p:nvPr/>
        </p:nvSpPr>
        <p:spPr>
          <a:xfrm>
            <a:off x="533400" y="3119588"/>
            <a:ext cx="9715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4f92a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Request Flow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902940"/>
            <a:ext cx="8382000" cy="45720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33400" y="99819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A4A6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914400" y="1044922"/>
            <a:ext cx="375063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i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"I've been waiting 2 weeks for my order and nobody is helping me!"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381000" y="1455390"/>
            <a:ext cx="1924050" cy="790575"/>
          </a:xfrm>
          <a:prstGeom prst="roundRect">
            <a:avLst>
              <a:gd name="adj" fmla="val 9639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81000" y="1469678"/>
            <a:ext cx="1924050" cy="0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782241" y="1601093"/>
            <a:ext cx="5581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FE</a:t>
            </a:r>
            <a:endParaRPr lang="en-US" sz="825" dirty="0"/>
          </a:p>
        </p:txBody>
      </p:sp>
      <p:sp>
        <p:nvSpPr>
          <p:cNvPr id="10" name="Text 7"/>
          <p:cNvSpPr/>
          <p:nvPr/>
        </p:nvSpPr>
        <p:spPr>
          <a:xfrm>
            <a:off x="495300" y="182686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/agent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495300" y="199831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user message to Agent API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381250" y="182210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0"/>
          <p:cNvSpPr/>
          <p:nvPr/>
        </p:nvSpPr>
        <p:spPr>
          <a:xfrm>
            <a:off x="2381250" y="187925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1"/>
          <p:cNvSpPr/>
          <p:nvPr/>
        </p:nvSpPr>
        <p:spPr>
          <a:xfrm>
            <a:off x="2419350" y="1793528"/>
            <a:ext cx="0" cy="114300"/>
          </a:xfrm>
          <a:prstGeom prst="line">
            <a:avLst/>
          </a:prstGeom>
          <a:noFill/>
          <a:ln w="762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2"/>
          <p:cNvSpPr/>
          <p:nvPr/>
        </p:nvSpPr>
        <p:spPr>
          <a:xfrm>
            <a:off x="2533650" y="1455390"/>
            <a:ext cx="1924050" cy="790575"/>
          </a:xfrm>
          <a:prstGeom prst="roundRect">
            <a:avLst>
              <a:gd name="adj" fmla="val 9639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2533650" y="1469678"/>
            <a:ext cx="1924050" cy="0"/>
          </a:xfrm>
          <a:prstGeom prst="line">
            <a:avLst/>
          </a:prstGeom>
          <a:noFill/>
          <a:ln w="28575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2934891" y="1601093"/>
            <a:ext cx="5067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API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2647950" y="182686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Loop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2647950" y="199831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→ Act → Observe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533900" y="182210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8"/>
          <p:cNvSpPr/>
          <p:nvPr/>
        </p:nvSpPr>
        <p:spPr>
          <a:xfrm>
            <a:off x="4533900" y="187925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19"/>
          <p:cNvSpPr/>
          <p:nvPr/>
        </p:nvSpPr>
        <p:spPr>
          <a:xfrm>
            <a:off x="4572000" y="1793528"/>
            <a:ext cx="0" cy="114300"/>
          </a:xfrm>
          <a:prstGeom prst="line">
            <a:avLst/>
          </a:prstGeom>
          <a:noFill/>
          <a:ln w="76200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0"/>
          <p:cNvSpPr/>
          <p:nvPr/>
        </p:nvSpPr>
        <p:spPr>
          <a:xfrm>
            <a:off x="4686300" y="1455390"/>
            <a:ext cx="1924050" cy="790575"/>
          </a:xfrm>
          <a:prstGeom prst="roundRect">
            <a:avLst>
              <a:gd name="adj" fmla="val 9639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21"/>
          <p:cNvSpPr/>
          <p:nvPr/>
        </p:nvSpPr>
        <p:spPr>
          <a:xfrm>
            <a:off x="4686300" y="1469678"/>
            <a:ext cx="1924050" cy="0"/>
          </a:xfrm>
          <a:prstGeom prst="line">
            <a:avLst/>
          </a:prstGeom>
          <a:noFill/>
          <a:ln w="28575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2"/>
          <p:cNvSpPr/>
          <p:nvPr/>
        </p:nvSpPr>
        <p:spPr>
          <a:xfrm>
            <a:off x="5087541" y="1601093"/>
            <a:ext cx="7206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</a:t>
            </a:r>
            <a:endParaRPr lang="en-US" sz="825" dirty="0">
              <a:solidFill>
                <a:srgbClr val="00B0F0"/>
              </a:solidFill>
            </a:endParaRPr>
          </a:p>
        </p:txBody>
      </p:sp>
      <p:sp>
        <p:nvSpPr>
          <p:cNvPr id="26" name="Text 23"/>
          <p:cNvSpPr/>
          <p:nvPr/>
        </p:nvSpPr>
        <p:spPr>
          <a:xfrm>
            <a:off x="4800600" y="182686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/predict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800600" y="199831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model inference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686550" y="182210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6"/>
          <p:cNvSpPr/>
          <p:nvPr/>
        </p:nvSpPr>
        <p:spPr>
          <a:xfrm>
            <a:off x="6686550" y="1879253"/>
            <a:ext cx="76200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7"/>
          <p:cNvSpPr/>
          <p:nvPr/>
        </p:nvSpPr>
        <p:spPr>
          <a:xfrm>
            <a:off x="6724650" y="1793528"/>
            <a:ext cx="0" cy="114300"/>
          </a:xfrm>
          <a:prstGeom prst="line">
            <a:avLst/>
          </a:prstGeom>
          <a:noFill/>
          <a:ln w="762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8"/>
          <p:cNvSpPr/>
          <p:nvPr/>
        </p:nvSpPr>
        <p:spPr>
          <a:xfrm>
            <a:off x="6838950" y="1455390"/>
            <a:ext cx="1924050" cy="790575"/>
          </a:xfrm>
          <a:prstGeom prst="roundRect">
            <a:avLst>
              <a:gd name="adj" fmla="val 9639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6838950" y="1469678"/>
            <a:ext cx="1924050" cy="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0"/>
          <p:cNvSpPr/>
          <p:nvPr/>
        </p:nvSpPr>
        <p:spPr>
          <a:xfrm>
            <a:off x="7240191" y="1601093"/>
            <a:ext cx="44554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6953250" y="182686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@ 94%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953250" y="1998315"/>
            <a:ext cx="17293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escalate_to_support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81000" y="2341215"/>
            <a:ext cx="8382000" cy="1080046"/>
          </a:xfrm>
          <a:prstGeom prst="roundRect">
            <a:avLst>
              <a:gd name="adj" fmla="val 7055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495300" y="2455515"/>
            <a:ext cx="831646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Reasoning Trace</a:t>
            </a:r>
            <a:endParaRPr lang="en-US" sz="825" dirty="0"/>
          </a:p>
        </p:txBody>
      </p:sp>
      <p:sp>
        <p:nvSpPr>
          <p:cNvPr id="38" name="Text 35"/>
          <p:cNvSpPr/>
          <p:nvPr/>
        </p:nvSpPr>
        <p:spPr>
          <a:xfrm>
            <a:off x="495300" y="2738437"/>
            <a:ext cx="2548346" cy="501849"/>
          </a:xfrm>
          <a:prstGeom prst="roundRect">
            <a:avLst>
              <a:gd name="adj" fmla="val 9091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6"/>
          <p:cNvSpPr/>
          <p:nvPr/>
        </p:nvSpPr>
        <p:spPr>
          <a:xfrm flipH="1">
            <a:off x="504823" y="2744985"/>
            <a:ext cx="0" cy="501849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7"/>
          <p:cNvSpPr/>
          <p:nvPr/>
        </p:nvSpPr>
        <p:spPr>
          <a:xfrm>
            <a:off x="609600" y="2773561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#1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609600" y="2945011"/>
            <a:ext cx="2480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"User expressed frustration. Must analyze sentiment first."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3251150" y="2744986"/>
            <a:ext cx="2641550" cy="495300"/>
          </a:xfrm>
          <a:prstGeom prst="roundRect">
            <a:avLst>
              <a:gd name="adj" fmla="val 11538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40"/>
          <p:cNvSpPr/>
          <p:nvPr/>
        </p:nvSpPr>
        <p:spPr>
          <a:xfrm>
            <a:off x="3260675" y="2744986"/>
            <a:ext cx="0" cy="495300"/>
          </a:xfrm>
          <a:prstGeom prst="line">
            <a:avLst/>
          </a:prstGeom>
          <a:noFill/>
          <a:ln w="19050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 41"/>
          <p:cNvSpPr/>
          <p:nvPr/>
        </p:nvSpPr>
        <p:spPr>
          <a:xfrm>
            <a:off x="3365450" y="2840236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365450" y="3011686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{"sentiment": "negative", "confidence": 94.5}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6007001" y="2744986"/>
            <a:ext cx="2641550" cy="495300"/>
          </a:xfrm>
          <a:prstGeom prst="roundRect">
            <a:avLst>
              <a:gd name="adj" fmla="val 11538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4"/>
          <p:cNvSpPr/>
          <p:nvPr/>
        </p:nvSpPr>
        <p:spPr>
          <a:xfrm>
            <a:off x="6016526" y="2744986"/>
            <a:ext cx="0" cy="49530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5"/>
          <p:cNvSpPr/>
          <p:nvPr/>
        </p:nvSpPr>
        <p:spPr>
          <a:xfrm>
            <a:off x="6121301" y="2840236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#2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6121301" y="3011686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"Negative ≥80%. Must escalate to human support."</a:t>
            </a:r>
            <a:endParaRPr lang="en-US" sz="750" dirty="0"/>
          </a:p>
        </p:txBody>
      </p:sp>
      <p:pic>
        <p:nvPicPr>
          <p:cNvPr id="50" name="Image 1" descr="/tmp/rasterized-gradient-e4864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516511"/>
            <a:ext cx="8382000" cy="971550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23875" y="365938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8"/>
          <p:cNvSpPr/>
          <p:nvPr/>
        </p:nvSpPr>
        <p:spPr>
          <a:xfrm>
            <a:off x="885825" y="3719364"/>
            <a:ext cx="111834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Agent Response</a:t>
            </a:r>
            <a:endParaRPr lang="en-US" sz="825" dirty="0"/>
          </a:p>
        </p:txBody>
      </p:sp>
      <p:sp>
        <p:nvSpPr>
          <p:cNvPr id="53" name="Text 49"/>
          <p:cNvSpPr/>
          <p:nvPr/>
        </p:nvSpPr>
        <p:spPr>
          <a:xfrm>
            <a:off x="523875" y="4002286"/>
            <a:ext cx="82581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sincerely apologize for the frustrating wait. I've escalated this to our priority support team (Ticket: ESC-A1B2C3D4). Someone will reach out within 2 hours to resolve this for you."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flow logged for observability • Token usage tracked per request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2242d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Prompt Design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689670"/>
            <a:ext cx="4484340" cy="3324225"/>
          </a:xfrm>
          <a:prstGeom prst="roundRect">
            <a:avLst>
              <a:gd name="adj" fmla="val 2865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14350" y="82302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 customer support agent...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14350" y="114687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## Your Workflow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4350" y="147072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5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analyze sentiment first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14350" y="177552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5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action based on sentiment: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4350" y="2080320"/>
            <a:ext cx="4301993" cy="2667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≥80%: escalate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14350" y="2385120"/>
            <a:ext cx="4301993" cy="2667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&lt;80%: clarify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14350" y="2689920"/>
            <a:ext cx="4301993" cy="2667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≥80%: thank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14350" y="299472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## Guidelines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14350" y="3318570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225"/>
              </a:spcAft>
              <a:buNone/>
            </a:pPr>
            <a:r>
              <a:rPr lang="en-US" sz="15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empathetic, never defensive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14350" y="3613845"/>
            <a:ext cx="4301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internal tools from customer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81000" y="4128195"/>
            <a:ext cx="4484340" cy="573286"/>
          </a:xfrm>
          <a:prstGeom prst="roundRect">
            <a:avLst>
              <a:gd name="adj" fmla="val 13292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395288" y="4128195"/>
            <a:ext cx="0" cy="573286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523875" y="4242495"/>
            <a:ext cx="43117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Works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23875" y="4440585"/>
            <a:ext cx="431170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role + explicit rules = consistent behavior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5093940" y="1298377"/>
            <a:ext cx="374244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Tips</a:t>
            </a:r>
            <a:endParaRPr lang="en-US" sz="975" dirty="0"/>
          </a:p>
        </p:txBody>
      </p:sp>
      <p:sp>
        <p:nvSpPr>
          <p:cNvPr id="20" name="Text 17"/>
          <p:cNvSpPr/>
          <p:nvPr/>
        </p:nvSpPr>
        <p:spPr>
          <a:xfrm>
            <a:off x="5093940" y="1566863"/>
            <a:ext cx="366906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208240" y="1681163"/>
            <a:ext cx="35092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 Specific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208240" y="1879253"/>
            <a:ext cx="3509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"≥80%" not "high confidence"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093940" y="2222153"/>
            <a:ext cx="366906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208240" y="2336453"/>
            <a:ext cx="35092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Structure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208240" y="2534543"/>
            <a:ext cx="3509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steps, clear sections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5093940" y="2877443"/>
            <a:ext cx="366906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208240" y="2991743"/>
            <a:ext cx="35092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 Boundaries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208240" y="3189833"/>
            <a:ext cx="3509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"Never be defensive" sets limits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5093940" y="3532733"/>
            <a:ext cx="366906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5208240" y="3647033"/>
            <a:ext cx="35092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 Output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08240" y="3845123"/>
            <a:ext cx="3509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 sees in response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in prompts.py for easy modification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ad7897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9840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Compose Deployment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935534"/>
            <a:ext cx="4076700" cy="2840087"/>
          </a:xfrm>
          <a:prstGeom prst="roundRect">
            <a:avLst>
              <a:gd name="adj" fmla="val 3354"/>
            </a:avLst>
          </a:prstGeom>
          <a:solidFill>
            <a:srgbClr val="152238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42925" y="1097459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900"/>
              </a:spcAft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STACK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542925" y="1358354"/>
            <a:ext cx="3752850" cy="558105"/>
          </a:xfrm>
          <a:prstGeom prst="roundRect">
            <a:avLst>
              <a:gd name="adj" fmla="val 13653"/>
            </a:avLst>
          </a:prstGeom>
          <a:solidFill>
            <a:srgbClr val="1E3A5F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57225" y="1481138"/>
            <a:ext cx="86953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sentiment-api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57225" y="1660178"/>
            <a:ext cx="8695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 Model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3379187" y="1682204"/>
            <a:ext cx="80228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enabled</a:t>
            </a:r>
            <a:endParaRPr lang="en-US" sz="675" dirty="0"/>
          </a:p>
        </p:txBody>
      </p:sp>
      <p:sp>
        <p:nvSpPr>
          <p:cNvPr id="10" name="Text 7"/>
          <p:cNvSpPr/>
          <p:nvPr/>
        </p:nvSpPr>
        <p:spPr>
          <a:xfrm>
            <a:off x="542925" y="2011710"/>
            <a:ext cx="3752850" cy="577155"/>
          </a:xfrm>
          <a:prstGeom prst="roundRect">
            <a:avLst>
              <a:gd name="adj" fmla="val 13203"/>
            </a:avLst>
          </a:prstGeom>
          <a:solidFill>
            <a:srgbClr val="1E3A5F"/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66750" y="2144018"/>
            <a:ext cx="8317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agent-api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66750" y="2323058"/>
            <a:ext cx="8317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ReACT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3117059" y="2345085"/>
            <a:ext cx="1054891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depends_on: sentiment-api</a:t>
            </a:r>
            <a:endParaRPr lang="en-US" sz="675" dirty="0"/>
          </a:p>
        </p:txBody>
      </p:sp>
      <p:sp>
        <p:nvSpPr>
          <p:cNvPr id="14" name="Text 11"/>
          <p:cNvSpPr/>
          <p:nvPr/>
        </p:nvSpPr>
        <p:spPr>
          <a:xfrm>
            <a:off x="542925" y="2684115"/>
            <a:ext cx="3752850" cy="558105"/>
          </a:xfrm>
          <a:prstGeom prst="roundRect">
            <a:avLst>
              <a:gd name="adj" fmla="val 13653"/>
            </a:avLst>
          </a:prstGeom>
          <a:solidFill>
            <a:srgbClr val="1E3A5F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57225" y="2806898"/>
            <a:ext cx="5505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chainlit-fe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57225" y="2985939"/>
            <a:ext cx="5505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3286738" y="3007965"/>
            <a:ext cx="894737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depends_on: agent-api</a:t>
            </a:r>
            <a:endParaRPr lang="en-US" sz="675" dirty="0"/>
          </a:p>
        </p:txBody>
      </p:sp>
      <p:sp>
        <p:nvSpPr>
          <p:cNvPr id="18" name="Shape 15"/>
          <p:cNvSpPr/>
          <p:nvPr/>
        </p:nvSpPr>
        <p:spPr>
          <a:xfrm>
            <a:off x="542925" y="3361283"/>
            <a:ext cx="375285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6"/>
          <p:cNvSpPr/>
          <p:nvPr/>
        </p:nvSpPr>
        <p:spPr>
          <a:xfrm>
            <a:off x="542925" y="3480346"/>
            <a:ext cx="38279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network: sentiment-api:8000, agent-api:8001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81000" y="3889921"/>
            <a:ext cx="4076700" cy="565696"/>
          </a:xfrm>
          <a:prstGeom prst="roundRect">
            <a:avLst>
              <a:gd name="adj" fmla="val 1347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95300" y="4004221"/>
            <a:ext cx="39250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Quick Start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495300" y="4194721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docker-compose up --build</a:t>
            </a:r>
            <a:endParaRPr lang="en-US" sz="825" dirty="0"/>
          </a:p>
        </p:txBody>
      </p:sp>
      <p:sp>
        <p:nvSpPr>
          <p:cNvPr id="23" name="Text 20"/>
          <p:cNvSpPr/>
          <p:nvPr/>
        </p:nvSpPr>
        <p:spPr>
          <a:xfrm>
            <a:off x="4686300" y="970657"/>
            <a:ext cx="41582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Production-Ready Features</a:t>
            </a:r>
            <a:endParaRPr lang="en-US" sz="975" dirty="0"/>
          </a:p>
        </p:txBody>
      </p:sp>
      <p:sp>
        <p:nvSpPr>
          <p:cNvPr id="24" name="Text 21"/>
          <p:cNvSpPr/>
          <p:nvPr/>
        </p:nvSpPr>
        <p:spPr>
          <a:xfrm>
            <a:off x="4686300" y="1239143"/>
            <a:ext cx="407670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00600" y="1391543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972050" y="1353443"/>
            <a:ext cx="228982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972050" y="1551533"/>
            <a:ext cx="22898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 checks model loaded status every 30s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686300" y="1894433"/>
            <a:ext cx="407670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4800600" y="2046833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4972050" y="2008733"/>
            <a:ext cx="22139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Ordering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972050" y="2206823"/>
            <a:ext cx="2213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start in correct order with condition checks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4686300" y="2549723"/>
            <a:ext cx="407670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4800600" y="2702123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972050" y="2664023"/>
            <a:ext cx="15660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Restart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972050" y="2862114"/>
            <a:ext cx="15660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restart: unless-stopped for resilience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4686300" y="3205014"/>
            <a:ext cx="407670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4800600" y="335741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4972050" y="3319314"/>
            <a:ext cx="196389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Configuration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972050" y="3517404"/>
            <a:ext cx="19638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OPENAI_API_KEY, model names via .env file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4686300" y="3860304"/>
            <a:ext cx="4076700" cy="560040"/>
          </a:xfrm>
          <a:prstGeom prst="roundRect">
            <a:avLst>
              <a:gd name="adj" fmla="val 13606"/>
            </a:avLst>
          </a:prstGeom>
          <a:solidFill>
            <a:srgbClr val="152238"/>
          </a:solidFill>
          <a:ln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4800600" y="401270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9"/>
          <p:cNvSpPr/>
          <p:nvPr/>
        </p:nvSpPr>
        <p:spPr>
          <a:xfrm>
            <a:off x="4972050" y="3974604"/>
            <a:ext cx="164708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Mounts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972050" y="4172694"/>
            <a:ext cx="16470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persistence for test files and logs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command deployment • All services containerized for consistent environments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39010a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1076474"/>
            <a:ext cx="2692450" cy="1634282"/>
          </a:xfrm>
          <a:prstGeom prst="roundRect">
            <a:avLst>
              <a:gd name="adj" fmla="val 699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381000" y="1095524"/>
            <a:ext cx="2692450" cy="0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3"/>
          <p:cNvSpPr/>
          <p:nvPr/>
        </p:nvSpPr>
        <p:spPr>
          <a:xfrm>
            <a:off x="552450" y="1286024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990600" y="1364159"/>
            <a:ext cx="97215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Foundation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52450" y="1743224"/>
            <a:ext cx="1054435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86.75%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62410" y="1943249"/>
            <a:ext cx="4666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52450" y="2246114"/>
            <a:ext cx="2396541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RoBERTa sentiment model exceeds 80% threshold with 93.6% precision on negative class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3225850" y="1076474"/>
            <a:ext cx="2692450" cy="1634282"/>
          </a:xfrm>
          <a:prstGeom prst="roundRect">
            <a:avLst>
              <a:gd name="adj" fmla="val 699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225850" y="1095524"/>
            <a:ext cx="2692450" cy="0"/>
          </a:xfrm>
          <a:prstGeom prst="line">
            <a:avLst/>
          </a:prstGeom>
          <a:noFill/>
          <a:ln w="38100">
            <a:solidFill>
              <a:srgbClr val="FF6B9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0"/>
          <p:cNvSpPr/>
          <p:nvPr/>
        </p:nvSpPr>
        <p:spPr>
          <a:xfrm>
            <a:off x="3397300" y="1286024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F6B9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835450" y="1364159"/>
            <a:ext cx="82429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Services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397300" y="1743224"/>
            <a:ext cx="17290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3643015" y="1943249"/>
            <a:ext cx="71257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397300" y="2246114"/>
            <a:ext cx="2396541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REST endpoints with Pydantic schemas, Swagger docs, health checks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6070699" y="1076474"/>
            <a:ext cx="2692450" cy="1634282"/>
          </a:xfrm>
          <a:prstGeom prst="roundRect">
            <a:avLst>
              <a:gd name="adj" fmla="val 699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6070699" y="1095524"/>
            <a:ext cx="2692450" cy="0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7"/>
          <p:cNvSpPr/>
          <p:nvPr/>
        </p:nvSpPr>
        <p:spPr>
          <a:xfrm>
            <a:off x="6242149" y="1286024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80299" y="1364159"/>
            <a:ext cx="103272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Workflow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242149" y="1743224"/>
            <a:ext cx="17290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6487864" y="1943249"/>
            <a:ext cx="2463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42149" y="2246114"/>
            <a:ext cx="2396541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ReACT agent with sentiment-driven decision logic and Chainlit UI</a:t>
            </a:r>
            <a:endParaRPr lang="en-US" sz="825" dirty="0"/>
          </a:p>
        </p:txBody>
      </p:sp>
      <p:pic>
        <p:nvPicPr>
          <p:cNvPr id="25" name="Image 1" descr="/tmp/rasterized-gradient-a093a2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863155"/>
            <a:ext cx="8382000" cy="999976"/>
          </a:xfrm>
          <a:prstGeom prst="rect">
            <a:avLst/>
          </a:prstGeom>
          <a:ln>
            <a:solidFill>
              <a:srgbClr val="00D4AA"/>
            </a:solidFill>
          </a:ln>
        </p:spPr>
      </p:pic>
      <p:sp>
        <p:nvSpPr>
          <p:cNvPr id="26" name="Text 22"/>
          <p:cNvSpPr/>
          <p:nvPr/>
        </p:nvSpPr>
        <p:spPr>
          <a:xfrm>
            <a:off x="561975" y="3044130"/>
            <a:ext cx="81804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1050"/>
              </a:spcAft>
              <a:buNone/>
            </a:pPr>
            <a:r>
              <a:rPr lang="en-US" sz="975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Highlights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561975" y="3407866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714375" y="3350716"/>
            <a:ext cx="216048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 Design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714375" y="3548807"/>
            <a:ext cx="21604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separation of concerns, independent scaling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298775" y="3407866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FF6B9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3451175" y="3350716"/>
            <a:ext cx="18038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Tool-Based Agent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3451175" y="3548807"/>
            <a:ext cx="18038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Flexible, extensible, explainable decisions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6035576" y="3407866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6187976" y="3350716"/>
            <a:ext cx="17659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Ready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187976" y="3548807"/>
            <a:ext cx="1765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Compose, health checks, logging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1461046" y="4015532"/>
            <a:ext cx="917525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1613446" y="4091732"/>
            <a:ext cx="6249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3.11+</a:t>
            </a:r>
            <a:endParaRPr lang="en-US" sz="825" dirty="0"/>
          </a:p>
        </p:txBody>
      </p:sp>
      <p:sp>
        <p:nvSpPr>
          <p:cNvPr id="38" name="Text 34"/>
          <p:cNvSpPr/>
          <p:nvPr/>
        </p:nvSpPr>
        <p:spPr>
          <a:xfrm>
            <a:off x="2492871" y="4015532"/>
            <a:ext cx="677466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5"/>
          <p:cNvSpPr/>
          <p:nvPr/>
        </p:nvSpPr>
        <p:spPr>
          <a:xfrm>
            <a:off x="2645271" y="4091732"/>
            <a:ext cx="38011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25" dirty="0"/>
          </a:p>
        </p:txBody>
      </p:sp>
      <p:sp>
        <p:nvSpPr>
          <p:cNvPr id="40" name="Text 36"/>
          <p:cNvSpPr/>
          <p:nvPr/>
        </p:nvSpPr>
        <p:spPr>
          <a:xfrm>
            <a:off x="3284637" y="4015532"/>
            <a:ext cx="829121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3437037" y="4091732"/>
            <a:ext cx="5348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25" dirty="0"/>
          </a:p>
        </p:txBody>
      </p:sp>
      <p:sp>
        <p:nvSpPr>
          <p:cNvPr id="42" name="Text 38"/>
          <p:cNvSpPr/>
          <p:nvPr/>
        </p:nvSpPr>
        <p:spPr>
          <a:xfrm>
            <a:off x="4228058" y="4015532"/>
            <a:ext cx="928092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4380458" y="4091732"/>
            <a:ext cx="6357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825" dirty="0"/>
          </a:p>
        </p:txBody>
      </p:sp>
      <p:sp>
        <p:nvSpPr>
          <p:cNvPr id="44" name="Text 40"/>
          <p:cNvSpPr/>
          <p:nvPr/>
        </p:nvSpPr>
        <p:spPr>
          <a:xfrm>
            <a:off x="5270450" y="4015532"/>
            <a:ext cx="892969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5422850" y="4091732"/>
            <a:ext cx="59993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GPT-5-mini</a:t>
            </a:r>
            <a:endParaRPr lang="en-US" sz="825" dirty="0"/>
          </a:p>
        </p:txBody>
      </p:sp>
      <p:sp>
        <p:nvSpPr>
          <p:cNvPr id="46" name="Text 42"/>
          <p:cNvSpPr/>
          <p:nvPr/>
        </p:nvSpPr>
        <p:spPr>
          <a:xfrm>
            <a:off x="6277719" y="4015532"/>
            <a:ext cx="636687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3"/>
          <p:cNvSpPr/>
          <p:nvPr/>
        </p:nvSpPr>
        <p:spPr>
          <a:xfrm>
            <a:off x="6430119" y="4091732"/>
            <a:ext cx="3385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825" dirty="0"/>
          </a:p>
        </p:txBody>
      </p:sp>
      <p:sp>
        <p:nvSpPr>
          <p:cNvPr id="48" name="Text 44"/>
          <p:cNvSpPr/>
          <p:nvPr/>
        </p:nvSpPr>
        <p:spPr>
          <a:xfrm>
            <a:off x="7028706" y="4015532"/>
            <a:ext cx="654248" cy="298996"/>
          </a:xfrm>
          <a:prstGeom prst="roundRect">
            <a:avLst>
              <a:gd name="adj" fmla="val 1911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5"/>
          <p:cNvSpPr/>
          <p:nvPr/>
        </p:nvSpPr>
        <p:spPr>
          <a:xfrm>
            <a:off x="7181106" y="4091732"/>
            <a:ext cx="3564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</a:t>
            </a:r>
            <a:endParaRPr lang="en-US" sz="825" dirty="0"/>
          </a:p>
        </p:txBody>
      </p:sp>
      <p:sp>
        <p:nvSpPr>
          <p:cNvPr id="50" name="Text 46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requirements met • Ready for production deployment</a:t>
            </a:r>
            <a:endParaRPr lang="en-US" sz="7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1dc6aa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667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Improvements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381000" y="1184077"/>
            <a:ext cx="41582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75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Model &amp; ML Enhancements</a:t>
            </a:r>
            <a:endParaRPr kumimoji="0" lang="en-US" sz="9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381000" y="147161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4350" y="160496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895350" y="1604963"/>
            <a:ext cx="25343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Domain Fine-Tuning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895350" y="1803053"/>
            <a:ext cx="25343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Train on customer support-specific data for better accuracy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81000" y="218405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14350" y="231740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95350" y="2317403"/>
            <a:ext cx="21062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Active Learning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95350" y="2515493"/>
            <a:ext cx="21062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Continuously improve from agent feedback loops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1000" y="289649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14350" y="302984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5350" y="3029843"/>
            <a:ext cx="22793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Multi-Language Support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95350" y="3227933"/>
            <a:ext cx="22793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Expand sentiment analysis to non-English languages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1000" y="360893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14350" y="374228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95350" y="3742283"/>
            <a:ext cx="206272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Ensemble Methods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95350" y="3940373"/>
            <a:ext cx="20627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Combine multiple models for improved reliability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4686300" y="1184077"/>
            <a:ext cx="41582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75" b="1" i="0" u="none" strike="noStrike" kern="1200" cap="none" spc="0" normalizeH="0" baseline="0" noProof="0" dirty="0">
                <a:ln>
                  <a:noFill/>
                </a:ln>
                <a:solidFill>
                  <a:srgbClr val="FF6B9D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Features</a:t>
            </a:r>
            <a:endParaRPr kumimoji="0" lang="en-US" sz="9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686300" y="147161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819650" y="160496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200650" y="1604963"/>
            <a:ext cx="232777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Conversation Persistence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200650" y="1803053"/>
            <a:ext cx="2327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Database storage for conversation history and context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686300" y="218405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819650" y="231740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200650" y="2317403"/>
            <a:ext cx="21762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Observability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200650" y="2515493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Prometheus metrics, Grafana dashboards, alerting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4686300" y="289649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4819650" y="302984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200650" y="3029843"/>
            <a:ext cx="21116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Rate Limiting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200650" y="3227933"/>
            <a:ext cx="21116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API keys, OAuth, request throttling for production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686300" y="3608933"/>
            <a:ext cx="4076700" cy="598140"/>
          </a:xfrm>
          <a:prstGeom prst="roundRect">
            <a:avLst>
              <a:gd name="adj" fmla="val 15924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4819650" y="3742283"/>
            <a:ext cx="266700" cy="266700"/>
          </a:xfrm>
          <a:prstGeom prst="roundRect">
            <a:avLst>
              <a:gd name="adj" fmla="val 21429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5200650" y="3742283"/>
            <a:ext cx="21870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8EEF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MCP Server Integration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200650" y="3940373"/>
            <a:ext cx="21870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8899A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for broader tool ecosystem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Roadmap for scaling from MVP to enterprise-grade solution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133c35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6518" y="796379"/>
            <a:ext cx="273081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E8EE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200" dirty="0"/>
          </a:p>
        </p:txBody>
      </p:sp>
      <p:pic>
        <p:nvPicPr>
          <p:cNvPr id="4" name="Image 1" descr="/tmp/rasterized-gradient-cc2e70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1596479"/>
            <a:ext cx="1714500" cy="381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82239" y="1901279"/>
            <a:ext cx="117952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792188" y="2640360"/>
            <a:ext cx="5559623" cy="1062930"/>
          </a:xfrm>
          <a:prstGeom prst="roundRect">
            <a:avLst>
              <a:gd name="adj" fmla="val 10753"/>
            </a:avLst>
          </a:prstGeom>
          <a:solidFill>
            <a:srgbClr val="1522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2125212" y="2830860"/>
            <a:ext cx="489357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Available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2162785" y="3143250"/>
            <a:ext cx="106111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</a:t>
            </a:r>
            <a:endParaRPr lang="en-US" sz="825" dirty="0"/>
          </a:p>
        </p:txBody>
      </p:sp>
      <p:sp>
        <p:nvSpPr>
          <p:cNvPr id="9" name="Text 5"/>
          <p:cNvSpPr/>
          <p:nvPr/>
        </p:nvSpPr>
        <p:spPr>
          <a:xfrm>
            <a:off x="2162785" y="3327946"/>
            <a:ext cx="106111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</a:t>
            </a:r>
            <a:endParaRPr lang="en-US" sz="975" dirty="0"/>
          </a:p>
        </p:txBody>
      </p:sp>
      <p:sp>
        <p:nvSpPr>
          <p:cNvPr id="10" name="Text 6"/>
          <p:cNvSpPr/>
          <p:nvPr/>
        </p:nvSpPr>
        <p:spPr>
          <a:xfrm>
            <a:off x="3442097" y="3131790"/>
            <a:ext cx="9525" cy="381000"/>
          </a:xfrm>
          <a:prstGeom prst="rect">
            <a:avLst/>
          </a:prstGeom>
          <a:solidFill>
            <a:srgbClr val="2A4A6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3666103" y="3143250"/>
            <a:ext cx="14401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API</a:t>
            </a:r>
            <a:endParaRPr lang="en-US" sz="825" dirty="0"/>
          </a:p>
        </p:txBody>
      </p:sp>
      <p:sp>
        <p:nvSpPr>
          <p:cNvPr id="12" name="Text 8"/>
          <p:cNvSpPr/>
          <p:nvPr/>
        </p:nvSpPr>
        <p:spPr>
          <a:xfrm>
            <a:off x="3666103" y="3327946"/>
            <a:ext cx="14401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localhost:8000/docs</a:t>
            </a:r>
            <a:endParaRPr lang="en-US" sz="975" dirty="0"/>
          </a:p>
        </p:txBody>
      </p:sp>
      <p:sp>
        <p:nvSpPr>
          <p:cNvPr id="13" name="Text 9"/>
          <p:cNvSpPr/>
          <p:nvPr/>
        </p:nvSpPr>
        <p:spPr>
          <a:xfrm>
            <a:off x="5320754" y="3131790"/>
            <a:ext cx="9525" cy="381000"/>
          </a:xfrm>
          <a:prstGeom prst="rect">
            <a:avLst/>
          </a:prstGeom>
          <a:solidFill>
            <a:srgbClr val="2A4A6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5544760" y="3143250"/>
            <a:ext cx="14401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API</a:t>
            </a:r>
            <a:endParaRPr lang="en-US" sz="825" dirty="0"/>
          </a:p>
        </p:txBody>
      </p:sp>
      <p:sp>
        <p:nvSpPr>
          <p:cNvPr id="15" name="Text 11"/>
          <p:cNvSpPr/>
          <p:nvPr/>
        </p:nvSpPr>
        <p:spPr>
          <a:xfrm>
            <a:off x="5544760" y="3327946"/>
            <a:ext cx="14401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localhost:8001/docs</a:t>
            </a:r>
            <a:endParaRPr lang="en-US" sz="975" dirty="0"/>
          </a:p>
        </p:txBody>
      </p:sp>
      <p:sp>
        <p:nvSpPr>
          <p:cNvPr id="16" name="Text 12"/>
          <p:cNvSpPr/>
          <p:nvPr/>
        </p:nvSpPr>
        <p:spPr>
          <a:xfrm>
            <a:off x="3168896" y="4160490"/>
            <a:ext cx="120958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Dherick Jay Paalam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671417" y="4234755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004828" y="4160490"/>
            <a:ext cx="96790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2025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7000089" y="4711154"/>
            <a:ext cx="17803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2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Sprout AI Labs Technical Assessment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1675</Words>
  <Application>Microsoft Office PowerPoint</Application>
  <PresentationFormat>On-screen Show (16:9)</PresentationFormat>
  <Paragraphs>417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Sprout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Sprout AI Support Agent</dc:title>
  <dc:subject>Technical Assessment - Sentiment Analysis &amp; Support Agent</dc:subject>
  <dc:creator>Dherick Jay Paalam</dc:creator>
  <cp:lastModifiedBy>Dherick Jay Paalam</cp:lastModifiedBy>
  <cp:revision>24</cp:revision>
  <dcterms:created xsi:type="dcterms:W3CDTF">2025-12-20T19:12:36Z</dcterms:created>
  <dcterms:modified xsi:type="dcterms:W3CDTF">2026-01-06T01:13:14Z</dcterms:modified>
</cp:coreProperties>
</file>